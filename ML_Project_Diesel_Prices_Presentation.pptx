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Tina </a:t>
            </a:r>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Hello everyone. We are Malika and Tina. Our project focuses on predicting diesel prices in France using Machine Learning. Our flagship model is XGBoost.</a:t>
            </a:r>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We use historical station data, location, time patterns and external market indicators to predict future diesel prices.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Tina —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“The idea is simple: using what we know today to predict diesel prices tomorrow.”</a:t>
            </a:r>
            <a:endParaRPr/>
          </a:p>
          <a:p>
            <a:pPr indent="0" lvl="0" marL="0" rtl="0" algn="l">
              <a:lnSpc>
                <a:spcPct val="100000"/>
              </a:lnSpc>
              <a:spcBef>
                <a:spcPts val="1200"/>
              </a:spcBef>
              <a:spcAft>
                <a:spcPts val="0"/>
              </a:spcAft>
              <a:buSzPts val="1100"/>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Tina — </a:t>
            </a:r>
            <a:endParaRPr/>
          </a:p>
          <a:p>
            <a:pPr indent="0" lvl="0" marL="0" marR="0" rtl="0" algn="l">
              <a:lnSpc>
                <a:spcPct val="100000"/>
              </a:lnSpc>
              <a:spcBef>
                <a:spcPts val="1200"/>
              </a:spcBef>
              <a:spcAft>
                <a:spcPts val="0"/>
              </a:spcAft>
              <a:buClr>
                <a:schemeClr val="dk1"/>
              </a:buClr>
              <a:buSzPts val="1100"/>
              <a:buFont typeface="Arial"/>
              <a:buNone/>
            </a:pPr>
            <a:r>
              <a:rPr b="1" lang="en-US">
                <a:solidFill>
                  <a:schemeClr val="dk1"/>
                </a:solidFill>
              </a:rPr>
              <a:t>Our main question is: can station characteristics, location, seasonality and recent market data help us predict diesel prices? This is a regression problem, because our target is a price in euros per liter. One important point is time. We cannot mix past and future data. So we train the model on earlier months and test it on later months. November and December 2025 are kept completely unseen until the final test. This helps us simulate a real prediction of future prices.</a:t>
            </a:r>
            <a:br>
              <a:rPr b="1" lang="en-US">
                <a:solidFill>
                  <a:schemeClr val="dk1"/>
                </a:solidFill>
              </a:rPr>
            </a:br>
            <a:r>
              <a:rPr b="1" i="0" lang="en-US" sz="1100" u="none" cap="none" strike="noStrike">
                <a:solidFill>
                  <a:srgbClr val="000000"/>
                </a:solidFill>
                <a:latin typeface="Arial"/>
                <a:ea typeface="Arial"/>
                <a:cs typeface="Arial"/>
                <a:sym typeface="Arial"/>
              </a:rPr>
              <a:t>To answer this question, we first needed to prepare our data. Malika will explain this part.</a:t>
            </a:r>
            <a:endParaRPr/>
          </a:p>
          <a:p>
            <a:pPr indent="0" lvl="0" marL="0" rtl="0" algn="l">
              <a:lnSpc>
                <a:spcPct val="115000"/>
              </a:lnSpc>
              <a:spcBef>
                <a:spcPts val="1200"/>
              </a:spcBef>
              <a:spcAft>
                <a:spcPts val="0"/>
              </a:spcAft>
              <a:buClr>
                <a:schemeClr val="dk1"/>
              </a:buClr>
              <a:buSzPts val="1100"/>
              <a:buFont typeface="Arial"/>
              <a:buNone/>
            </a:pPr>
            <a:r>
              <a:t/>
            </a:r>
            <a:endParaRPr b="1">
              <a:solidFill>
                <a:schemeClr val="dk1"/>
              </a:solidFill>
            </a:endParaRPr>
          </a:p>
          <a:p>
            <a:pPr indent="0" lvl="0" marL="0" rtl="0" algn="l">
              <a:lnSpc>
                <a:spcPct val="100000"/>
              </a:lnSpc>
              <a:spcBef>
                <a:spcPts val="1200"/>
              </a:spcBef>
              <a:spcAft>
                <a:spcPts val="0"/>
              </a:spcAft>
              <a:buSzPts val="1100"/>
              <a:buNone/>
            </a:pPr>
            <a:r>
              <a:t/>
            </a:r>
            <a:endParaRPr/>
          </a:p>
        </p:txBody>
      </p:sp>
      <p:sp>
        <p:nvSpPr>
          <p:cNvPr id="100" name="Google Shape;10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Malika</a:t>
            </a:r>
            <a:endParaRPr/>
          </a:p>
          <a:p>
            <a:pPr indent="0" lvl="0" marL="0" rtl="0" algn="l">
              <a:lnSpc>
                <a:spcPct val="100000"/>
              </a:lnSpc>
              <a:spcBef>
                <a:spcPts val="0"/>
              </a:spcBef>
              <a:spcAft>
                <a:spcPts val="0"/>
              </a:spcAft>
              <a:buSzPts val="1100"/>
              <a:buNone/>
            </a:pPr>
            <a:r>
              <a:rPr lang="en-US"/>
              <a:t>We combined three sources: 5.3 million fuel price records for 2025, metadata for over 14,000 stations, and two external indicators — Brent crude oil and the Geopolitical Risk Index. We first focused on data quality: missing essential values, data types, duplicates and suspicious observations. Importantly, we investigated anomalies before removing them — a conflicting duplicate reading and an isolated €3.00 outlier were only removed after we confirmed them as genuine errors by checking each station's price history and same-day national prices. That left us with about 1.5 million clean diesel observations. </a:t>
            </a:r>
            <a:endParaRPr/>
          </a:p>
        </p:txBody>
      </p:sp>
      <p:sp>
        <p:nvSpPr>
          <p:cNvPr id="113" name="Google Shape;11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Malika</a:t>
            </a:r>
            <a:endParaRPr/>
          </a:p>
          <a:p>
            <a:pPr indent="0" lvl="0" marL="0" rtl="0" algn="l">
              <a:lnSpc>
                <a:spcPct val="100000"/>
              </a:lnSpc>
              <a:spcBef>
                <a:spcPts val="0"/>
              </a:spcBef>
              <a:spcAft>
                <a:spcPts val="0"/>
              </a:spcAft>
              <a:buSzPts val="1100"/>
              <a:buNone/>
            </a:pPr>
            <a:r>
              <a:rPr lang="en-US"/>
              <a:t>Our EDA guided the model design. Diesel had a median price of 1.636 euros per liter. One of the clearest patterns was the difference between highway and road stations: 1.809 versus 1.629 euros per liter. We also observed substantial geographic variation — about 20 cents between areas — and strong relationships between diesel and other fuels, suggesting shared market dynamics. This told us that time, geography and station characteristics all belonged in the model. </a:t>
            </a:r>
            <a:endParaRPr/>
          </a:p>
        </p:txBody>
      </p:sp>
      <p:sp>
        <p:nvSpPr>
          <p:cNvPr id="131" name="Google Shape;13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Malika</a:t>
            </a:r>
            <a:endParaRPr/>
          </a:p>
          <a:p>
            <a:pPr indent="0" lvl="0" marL="0" rtl="0" algn="l">
              <a:lnSpc>
                <a:spcPct val="100000"/>
              </a:lnSpc>
              <a:spcBef>
                <a:spcPts val="0"/>
              </a:spcBef>
              <a:spcAft>
                <a:spcPts val="0"/>
              </a:spcAft>
              <a:buSzPts val="1100"/>
              <a:buNone/>
            </a:pPr>
            <a:r>
              <a:rPr lang="en-US"/>
              <a:t>We engineered eight final predictors covering geography, station characteristics, time and lagged external signals. Month and Week were removed because they were highly redundant with Day of Year. We also excluded same-day Brent and GPR and created one-day lags. This is important because it reduces temporal leakage and better represents the information available before a prediction is made.</a:t>
            </a:r>
            <a:endParaRPr/>
          </a:p>
        </p:txBody>
      </p:sp>
      <p:sp>
        <p:nvSpPr>
          <p:cNvPr id="147" name="Google Shape;147;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Tina</a:t>
            </a:r>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Because fuel prices change over time, we decided not to use a random split. We used a chronological split instead. January to September is used for development, October for validation and tuning, and November and December for the final test. We first used a basic Random Forest as our baseline. Its MAE was 0.0487. Then, our first XGBoost model reached 0.0380, which is about 22 percent better. So we selected XGBoost as our flagship model.</a:t>
            </a:r>
            <a:endParaRPr b="1">
              <a:solidFill>
                <a:schemeClr val="dk1"/>
              </a:solidFill>
            </a:endParaRPr>
          </a:p>
          <a:p>
            <a:pPr indent="0" lvl="0" marL="0" rtl="0" algn="l">
              <a:lnSpc>
                <a:spcPct val="100000"/>
              </a:lnSpc>
              <a:spcBef>
                <a:spcPts val="1200"/>
              </a:spcBef>
              <a:spcAft>
                <a:spcPts val="0"/>
              </a:spcAft>
              <a:buSzPts val="1100"/>
              <a:buNone/>
            </a:pPr>
            <a:r>
              <a:t/>
            </a:r>
            <a:endParaRPr/>
          </a:p>
        </p:txBody>
      </p:sp>
      <p:sp>
        <p:nvSpPr>
          <p:cNvPr id="173" name="Google Shape;173;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Tina</a:t>
            </a:r>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For XGBoost tuning, we used three steps.First, Random Search explored different combinations. Then, Grid Search focused on the most promising ones. Finally, Manual Search helped us refine the model.Our final configuration used 1,200 trees, with the other hyperparameters shown on the slide. Our best validation MAE was about 0.0374 euros per liter.</a:t>
            </a:r>
            <a:endParaRPr b="1">
              <a:solidFill>
                <a:schemeClr val="dk1"/>
              </a:solidFill>
            </a:endParaRPr>
          </a:p>
          <a:p>
            <a:pPr indent="0" lvl="0" marL="0" rtl="0" algn="l">
              <a:lnSpc>
                <a:spcPct val="100000"/>
              </a:lnSpc>
              <a:spcBef>
                <a:spcPts val="1200"/>
              </a:spcBef>
              <a:spcAft>
                <a:spcPts val="0"/>
              </a:spcAft>
              <a:buSzPts val="1100"/>
              <a:buNone/>
            </a:pPr>
            <a:r>
              <a:t/>
            </a:r>
            <a:endParaRPr/>
          </a:p>
        </p:txBody>
      </p:sp>
      <p:sp>
        <p:nvSpPr>
          <p:cNvPr id="199" name="Google Shape;199;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Malika</a:t>
            </a:r>
            <a:endParaRPr/>
          </a:p>
          <a:p>
            <a:pPr indent="0" lvl="0" marL="15875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On the completely unseen November-December test period, the final model achieved an MAE of 0.05 euros per liter, an RMSE of 0.064 and an R-squared of 0.59 — so it explains about 60 percent of the variation in the test period. The train R-squared was 0.83, notably higher, which suggests some overfitting. Feature importance shows why the model predicts what it does: Is Highway alone accounts for 53 percent of total importance, followed by Day of Year, Brent Lag 1 and geographic coordinates. There may also be a temporal effect : November and December can exhibit different price dynamics compared with October validation period. So the model is facing a genuinely new market situation. This is an important limitation of our current approach.</a:t>
            </a:r>
            <a:endParaRPr b="0"/>
          </a:p>
          <a:p>
            <a:pPr indent="0" lvl="0" marL="158750" rtl="0" algn="l">
              <a:lnSpc>
                <a:spcPct val="100000"/>
              </a:lnSpc>
              <a:spcBef>
                <a:spcPts val="0"/>
              </a:spcBef>
              <a:spcAft>
                <a:spcPts val="0"/>
              </a:spcAft>
              <a:buSzPts val="1100"/>
              <a:buNone/>
            </a:pPr>
            <a:br>
              <a:rPr lang="en-US"/>
            </a:br>
            <a:endParaRPr/>
          </a:p>
        </p:txBody>
      </p:sp>
      <p:sp>
        <p:nvSpPr>
          <p:cNvPr id="223" name="Google Shape;223;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Malika</a:t>
            </a:r>
            <a:endParaRPr/>
          </a:p>
          <a:p>
            <a:pPr indent="0" lvl="0" marL="0" rtl="0" algn="l">
              <a:lnSpc>
                <a:spcPct val="100000"/>
              </a:lnSpc>
              <a:spcBef>
                <a:spcPts val="0"/>
              </a:spcBef>
              <a:spcAft>
                <a:spcPts val="0"/>
              </a:spcAft>
              <a:buSzPts val="1100"/>
              <a:buNone/>
            </a:pPr>
            <a:r>
              <a:rPr lang="en-US"/>
              <a:t>Three things stood out. First, station context — especially whether a station sits on a highway — was by far the strongest predictive signal, with time, Brent prices and geography adding smaller but meaningful contributions. Second, XGBoost consistently and clearly outperformed the Random Forest baseline throughout validation. Third, and just as important: performance dropped on the unseen future period, which is a real limitation, not a footnote. Our takeaway is that machine learning can give useful forward-looking signal on diesel prices, but turning that into a robust forecast requires models that can adapt as market conditions change. </a:t>
            </a:r>
            <a:endParaRPr/>
          </a:p>
        </p:txBody>
      </p:sp>
      <p:sp>
        <p:nvSpPr>
          <p:cNvPr id="249" name="Google Shape;249;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Malika</a:t>
            </a:r>
            <a:endParaRPr/>
          </a:p>
          <a:p>
            <a:pPr indent="0" lvl="0" marL="0" rtl="0" algn="l">
              <a:lnSpc>
                <a:spcPct val="100000"/>
              </a:lnSpc>
              <a:spcBef>
                <a:spcPts val="0"/>
              </a:spcBef>
              <a:spcAft>
                <a:spcPts val="0"/>
              </a:spcAft>
              <a:buSzPts val="1100"/>
              <a:buNone/>
            </a:pPr>
            <a:r>
              <a:rPr lang="en-US"/>
              <a:t>Beyond the final score, this project taught us a few practical lessons. Working with around 1.5 million observations made training and tuning genuinely demanding, which shaped how much search we could afford to run. Respecting temporal leakage took real discipline — every feature had to reflect only what would actually be known at prediction time. And maybe the most humbling lesson: strong October validation performance didn't fully translate to November and December — validation is not the future. Looking ahead, we'd extend the analysis across multiple years, add station-level price history and rolling features, test across several successive future periods instead of just one, and bring in richer external market signals. </a:t>
            </a:r>
            <a:endParaRPr/>
          </a:p>
        </p:txBody>
      </p:sp>
      <p:sp>
        <p:nvSpPr>
          <p:cNvPr id="269" name="Google Shape;269;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solidFill>
                  <a:schemeClr val="dk1"/>
                </a:solidFill>
              </a:rPr>
              <a:t>Tina</a:t>
            </a:r>
            <a:endParaRPr>
              <a:solidFill>
                <a:schemeClr val="dk1"/>
              </a:solidFill>
            </a:endParaRPr>
          </a:p>
          <a:p>
            <a:pPr indent="0" lvl="0" marL="0" rtl="0" algn="l">
              <a:lnSpc>
                <a:spcPct val="115000"/>
              </a:lnSpc>
              <a:spcBef>
                <a:spcPts val="1200"/>
              </a:spcBef>
              <a:spcAft>
                <a:spcPts val="0"/>
              </a:spcAft>
              <a:buSzPts val="1100"/>
              <a:buNone/>
            </a:pPr>
            <a:r>
              <a:rPr b="1" lang="en-US">
                <a:solidFill>
                  <a:schemeClr val="dk1"/>
                </a:solidFill>
              </a:rPr>
              <a:t>We started by asking if Machine Learning could help us anticipate diesel prices instead of just observing them. Our results show that XGBoost can use information from stations, time and market data to predict diesel prices. But there is still room for improvement, with more historical data, better temporal validation and more market information. </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Thank you for listening.</a:t>
            </a:r>
            <a:endParaRPr b="1">
              <a:solidFill>
                <a:schemeClr val="dk1"/>
              </a:solidFill>
            </a:endParaRPr>
          </a:p>
          <a:p>
            <a:pPr indent="0" lvl="0" marL="0" rtl="0" algn="l">
              <a:lnSpc>
                <a:spcPct val="100000"/>
              </a:lnSpc>
              <a:spcBef>
                <a:spcPts val="1200"/>
              </a:spcBef>
              <a:spcAft>
                <a:spcPts val="0"/>
              </a:spcAft>
              <a:buSzPts val="1100"/>
              <a:buNone/>
            </a:pPr>
            <a:r>
              <a:t/>
            </a:r>
            <a:endParaRPr>
              <a:solidFill>
                <a:schemeClr val="dk1"/>
              </a:solidFill>
            </a:endParaRPr>
          </a:p>
        </p:txBody>
      </p:sp>
      <p:sp>
        <p:nvSpPr>
          <p:cNvPr id="292" name="Google Shape;292;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drive.google.com/file/d/1N2wjhuspMPFRdcTwQ3SiLWMu0BNWmvH3/view"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nvSpPr>
        <p:spPr>
          <a:xfrm>
            <a:off x="445650" y="125731"/>
            <a:ext cx="6583800" cy="15773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FFFFFF"/>
                </a:solidFill>
                <a:latin typeface="Calibri"/>
                <a:ea typeface="Calibri"/>
                <a:cs typeface="Calibri"/>
                <a:sym typeface="Calibri"/>
              </a:rPr>
              <a:t>PREDICTING DIESEL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E89E34"/>
                </a:solidFill>
                <a:latin typeface="Calibri"/>
                <a:ea typeface="Calibri"/>
                <a:cs typeface="Calibri"/>
                <a:sym typeface="Calibri"/>
              </a:rPr>
              <a:t>PRICES IN FRANCE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5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13"/>
          <p:cNvSpPr txBox="1"/>
          <p:nvPr/>
        </p:nvSpPr>
        <p:spPr>
          <a:xfrm>
            <a:off x="658368" y="6629400"/>
            <a:ext cx="6583800" cy="25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AAB8C4"/>
                </a:solidFill>
                <a:latin typeface="Calibri"/>
                <a:ea typeface="Calibri"/>
                <a:cs typeface="Calibri"/>
                <a:sym typeface="Calibri"/>
              </a:rPr>
              <a:t>Tina •Malika | </a:t>
            </a:r>
            <a:endParaRPr b="0" i="0" sz="1400" u="none" cap="none" strike="noStrike">
              <a:solidFill>
                <a:srgbClr val="000000"/>
              </a:solidFill>
              <a:latin typeface="Arial"/>
              <a:ea typeface="Arial"/>
              <a:cs typeface="Arial"/>
              <a:sym typeface="Arial"/>
            </a:endParaRPr>
          </a:p>
        </p:txBody>
      </p:sp>
      <p:pic>
        <p:nvPicPr>
          <p:cNvPr id="86" name="Google Shape;86;p13" title="Média1.mp4">
            <a:hlinkClick r:id="rId3"/>
          </p:cNvPr>
          <p:cNvPicPr preferRelativeResize="0"/>
          <p:nvPr/>
        </p:nvPicPr>
        <p:blipFill>
          <a:blip r:embed="rId4">
            <a:alphaModFix/>
          </a:blip>
          <a:stretch>
            <a:fillRect/>
          </a:stretch>
        </p:blipFill>
        <p:spPr>
          <a:xfrm>
            <a:off x="0" y="0"/>
            <a:ext cx="12192000" cy="6858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
                                        </p:tgtEl>
                                        <p:attrNameLst>
                                          <p:attrName>style.visibility</p:attrName>
                                        </p:attrNameLst>
                                      </p:cBhvr>
                                      <p:to>
                                        <p:strVal val="visible"/>
                                      </p:to>
                                    </p:set>
                                    <p:animEffect filter="fade" transition="in">
                                      <p:cBhvr>
                                        <p:cTn dur="1000"/>
                                        <p:tgtEl>
                                          <p:spTgt spid="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p:nvPr/>
        </p:nvSpPr>
        <p:spPr>
          <a:xfrm>
            <a:off x="0" y="0"/>
            <a:ext cx="12191700" cy="6858000"/>
          </a:xfrm>
          <a:prstGeom prst="rect">
            <a:avLst/>
          </a:prstGeom>
          <a:solidFill>
            <a:srgbClr val="0F1B2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2" name="Google Shape;92;p14"/>
          <p:cNvPicPr preferRelativeResize="0"/>
          <p:nvPr/>
        </p:nvPicPr>
        <p:blipFill rotWithShape="1">
          <a:blip r:embed="rId3">
            <a:alphaModFix/>
          </a:blip>
          <a:srcRect b="0" l="18878" r="18878" t="0"/>
          <a:stretch/>
        </p:blipFill>
        <p:spPr>
          <a:xfrm>
            <a:off x="7002425" y="1274091"/>
            <a:ext cx="4014354" cy="3690900"/>
          </a:xfrm>
          <a:prstGeom prst="rect">
            <a:avLst/>
          </a:prstGeom>
          <a:noFill/>
          <a:ln>
            <a:noFill/>
          </a:ln>
        </p:spPr>
      </p:pic>
      <p:sp>
        <p:nvSpPr>
          <p:cNvPr id="93" name="Google Shape;93;p14"/>
          <p:cNvSpPr txBox="1"/>
          <p:nvPr/>
        </p:nvSpPr>
        <p:spPr>
          <a:xfrm>
            <a:off x="858109" y="1234440"/>
            <a:ext cx="6583800" cy="32217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4900"/>
              <a:buFont typeface="Arial"/>
              <a:buNone/>
            </a:pPr>
            <a:r>
              <a:rPr b="1" i="0" lang="en-US" sz="4900" u="none" cap="none" strike="noStrike">
                <a:solidFill>
                  <a:srgbClr val="FFFFFF"/>
                </a:solidFill>
                <a:latin typeface="Calibri"/>
                <a:ea typeface="Calibri"/>
                <a:cs typeface="Calibri"/>
                <a:sym typeface="Calibri"/>
              </a:rPr>
              <a:t>PREDICTING </a:t>
            </a:r>
            <a:endParaRPr b="1" i="0" sz="4900" u="none" cap="none" strike="noStrike">
              <a:solidFill>
                <a:srgbClr val="FFFFFF"/>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4900"/>
              <a:buFont typeface="Arial"/>
              <a:buNone/>
            </a:pPr>
            <a:r>
              <a:rPr b="1" i="0" lang="en-US" sz="4900" u="none" cap="none" strike="noStrike">
                <a:solidFill>
                  <a:srgbClr val="E89E34"/>
                </a:solidFill>
                <a:latin typeface="Calibri"/>
                <a:ea typeface="Calibri"/>
                <a:cs typeface="Calibri"/>
                <a:sym typeface="Calibri"/>
              </a:rPr>
              <a:t>DIESEL</a:t>
            </a:r>
            <a:r>
              <a:rPr b="0" i="0" lang="en-US" sz="2900" u="none" cap="none" strike="noStrike">
                <a:solidFill>
                  <a:srgbClr val="E89E34"/>
                </a:solidFill>
                <a:latin typeface="Arial"/>
                <a:ea typeface="Arial"/>
                <a:cs typeface="Arial"/>
                <a:sym typeface="Arial"/>
              </a:rPr>
              <a:t> </a:t>
            </a:r>
            <a:r>
              <a:rPr b="1" i="0" lang="en-US" sz="4900" u="none" cap="none" strike="noStrike">
                <a:solidFill>
                  <a:srgbClr val="E89E34"/>
                </a:solidFill>
                <a:latin typeface="Calibri"/>
                <a:ea typeface="Calibri"/>
                <a:cs typeface="Calibri"/>
                <a:sym typeface="Calibri"/>
              </a:rPr>
              <a:t>PRICES </a:t>
            </a:r>
            <a:endParaRPr b="1" i="0" sz="4900" u="none" cap="none" strike="noStrike">
              <a:solidFill>
                <a:srgbClr val="E89E34"/>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4900"/>
              <a:buFont typeface="Arial"/>
              <a:buNone/>
            </a:pPr>
            <a:r>
              <a:rPr b="1" i="0" lang="en-US" sz="4900" u="none" cap="none" strike="noStrike">
                <a:solidFill>
                  <a:schemeClr val="lt1"/>
                </a:solidFill>
                <a:latin typeface="Calibri"/>
                <a:ea typeface="Calibri"/>
                <a:cs typeface="Calibri"/>
                <a:sym typeface="Calibri"/>
              </a:rPr>
              <a:t>IN FRANCE</a:t>
            </a:r>
            <a:endParaRPr b="1" i="0" sz="49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900"/>
              <a:buFont typeface="Arial"/>
              <a:buNone/>
            </a:pPr>
            <a:r>
              <a:t/>
            </a:r>
            <a:endParaRPr b="1" i="0" sz="29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US" sz="2100" u="none" cap="none" strike="noStrike">
                <a:solidFill>
                  <a:srgbClr val="CDD6DE"/>
                </a:solidFill>
                <a:latin typeface="Calibri"/>
                <a:ea typeface="Calibri"/>
                <a:cs typeface="Calibri"/>
                <a:sym typeface="Calibri"/>
              </a:rPr>
              <a:t>Can machine learning anticipate</a:t>
            </a:r>
            <a:endParaRPr b="0" i="0" sz="2100" u="none" cap="none" strike="noStrike">
              <a:solidFill>
                <a:srgbClr val="CDD6DE"/>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CDD6DE"/>
                </a:solidFill>
                <a:latin typeface="Calibri"/>
                <a:ea typeface="Calibri"/>
                <a:cs typeface="Calibri"/>
                <a:sym typeface="Calibri"/>
              </a:rPr>
              <a:t>future diesel prices? </a:t>
            </a:r>
            <a:endParaRPr b="0" i="0" sz="2100" u="none" cap="none" strike="noStrike">
              <a:solidFill>
                <a:srgbClr val="CDD6DE"/>
              </a:solidFill>
              <a:latin typeface="Calibri"/>
              <a:ea typeface="Calibri"/>
              <a:cs typeface="Calibri"/>
              <a:sym typeface="Calibri"/>
            </a:endParaRPr>
          </a:p>
        </p:txBody>
      </p:sp>
      <p:sp>
        <p:nvSpPr>
          <p:cNvPr id="94" name="Google Shape;94;p14"/>
          <p:cNvSpPr txBox="1"/>
          <p:nvPr/>
        </p:nvSpPr>
        <p:spPr>
          <a:xfrm>
            <a:off x="858093" y="5038706"/>
            <a:ext cx="6583800" cy="86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AAB8C4"/>
                </a:solidFill>
                <a:latin typeface="Calibri"/>
                <a:ea typeface="Calibri"/>
                <a:cs typeface="Calibri"/>
                <a:sym typeface="Calibri"/>
              </a:rPr>
              <a:t>Tina &amp; Malika</a:t>
            </a:r>
            <a:r>
              <a:rPr b="1" i="0" lang="en-US" sz="1600" u="none" cap="none" strike="noStrike">
                <a:solidFill>
                  <a:srgbClr val="AAB8C4"/>
                </a:solidFill>
                <a:latin typeface="Calibri"/>
                <a:ea typeface="Calibri"/>
                <a:cs typeface="Calibri"/>
                <a:sym typeface="Calibri"/>
              </a:rPr>
              <a:t>  </a:t>
            </a:r>
            <a:endParaRPr b="1" i="0" sz="1600" u="none" cap="none" strike="noStrike">
              <a:solidFill>
                <a:srgbClr val="AAB8C4"/>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AAB8C4"/>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AAB8C4"/>
                </a:solidFill>
                <a:latin typeface="Calibri"/>
                <a:ea typeface="Calibri"/>
                <a:cs typeface="Calibri"/>
                <a:sym typeface="Calibri"/>
              </a:rPr>
              <a:t>MACHINE LEARNING PROJECT • 2026 </a:t>
            </a:r>
            <a:endParaRPr b="1" i="0" sz="1600" u="none" cap="none" strike="noStrike">
              <a:solidFill>
                <a:srgbClr val="AAB8C4"/>
              </a:solidFill>
              <a:latin typeface="Calibri"/>
              <a:ea typeface="Calibri"/>
              <a:cs typeface="Calibri"/>
              <a:sym typeface="Calibri"/>
            </a:endParaRPr>
          </a:p>
        </p:txBody>
      </p:sp>
      <p:sp>
        <p:nvSpPr>
          <p:cNvPr id="95" name="Google Shape;95;p14"/>
          <p:cNvSpPr/>
          <p:nvPr/>
        </p:nvSpPr>
        <p:spPr>
          <a:xfrm flipH="1">
            <a:off x="402500" y="591000"/>
            <a:ext cx="98700" cy="5921400"/>
          </a:xfrm>
          <a:prstGeom prst="rect">
            <a:avLst/>
          </a:prstGeom>
          <a:solidFill>
            <a:srgbClr val="6D9EE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6" name="Google Shape;96;p14"/>
          <p:cNvSpPr/>
          <p:nvPr/>
        </p:nvSpPr>
        <p:spPr>
          <a:xfrm flipH="1" rot="10800000">
            <a:off x="7608401" y="4332204"/>
            <a:ext cx="2247600" cy="19800"/>
          </a:xfrm>
          <a:prstGeom prst="rect">
            <a:avLst/>
          </a:prstGeom>
          <a:solidFill>
            <a:srgbClr val="E89E34"/>
          </a:solidFill>
          <a:ln>
            <a:noFill/>
          </a:ln>
          <a:effectLst>
            <a:outerShdw blurRad="40000" rotWithShape="0" dir="5400000" dist="23000">
              <a:srgbClr val="000000">
                <a:alpha val="34902"/>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97" name="Google Shape;97;p14"/>
          <p:cNvSpPr/>
          <p:nvPr/>
        </p:nvSpPr>
        <p:spPr>
          <a:xfrm>
            <a:off x="858101" y="6327894"/>
            <a:ext cx="574800" cy="45900"/>
          </a:xfrm>
          <a:prstGeom prst="rect">
            <a:avLst/>
          </a:prstGeom>
          <a:solidFill>
            <a:srgbClr val="E89E34"/>
          </a:solidFill>
          <a:ln>
            <a:noFill/>
          </a:ln>
          <a:effectLst>
            <a:outerShdw blurRad="40000" rotWithShape="0" dir="5400000" dist="23000">
              <a:srgbClr val="000000">
                <a:alpha val="34902"/>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B2B"/>
        </a:solidFill>
      </p:bgPr>
    </p:bg>
    <p:spTree>
      <p:nvGrpSpPr>
        <p:cNvPr id="101" name="Shape 101"/>
        <p:cNvGrpSpPr/>
        <p:nvPr/>
      </p:nvGrpSpPr>
      <p:grpSpPr>
        <a:xfrm>
          <a:off x="0" y="0"/>
          <a:ext cx="0" cy="0"/>
          <a:chOff x="0" y="0"/>
          <a:chExt cx="0" cy="0"/>
        </a:xfrm>
      </p:grpSpPr>
      <p:sp>
        <p:nvSpPr>
          <p:cNvPr id="102" name="Google Shape;102;p15"/>
          <p:cNvSpPr txBox="1"/>
          <p:nvPr/>
        </p:nvSpPr>
        <p:spPr>
          <a:xfrm>
            <a:off x="685800" y="530352"/>
            <a:ext cx="4389000" cy="2847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E89E34"/>
                </a:solidFill>
                <a:latin typeface="Arial"/>
                <a:ea typeface="Arial"/>
                <a:cs typeface="Arial"/>
                <a:sym typeface="Arial"/>
              </a:rPr>
              <a:t>WHY THIS PROJECT?</a:t>
            </a:r>
            <a:endParaRPr b="0" i="0" sz="1600" u="none" cap="none" strike="noStrike">
              <a:solidFill>
                <a:srgbClr val="000000"/>
              </a:solidFill>
              <a:latin typeface="Arial"/>
              <a:ea typeface="Arial"/>
              <a:cs typeface="Arial"/>
              <a:sym typeface="Arial"/>
            </a:endParaRPr>
          </a:p>
        </p:txBody>
      </p:sp>
      <p:sp>
        <p:nvSpPr>
          <p:cNvPr id="103" name="Google Shape;103;p15"/>
          <p:cNvSpPr txBox="1"/>
          <p:nvPr/>
        </p:nvSpPr>
        <p:spPr>
          <a:xfrm>
            <a:off x="685800" y="1078992"/>
            <a:ext cx="5303400" cy="954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F5F7FA"/>
                </a:solidFill>
                <a:latin typeface="Arial"/>
                <a:ea typeface="Arial"/>
                <a:cs typeface="Arial"/>
                <a:sym typeface="Arial"/>
              </a:rPr>
              <a:t>FROM OBSERVING PRICES</a:t>
            </a:r>
            <a:br>
              <a:rPr b="1" i="0" lang="en-US" sz="2800" u="none" cap="none" strike="noStrike">
                <a:solidFill>
                  <a:srgbClr val="F5F7FA"/>
                </a:solidFill>
                <a:latin typeface="Arial"/>
                <a:ea typeface="Arial"/>
                <a:cs typeface="Arial"/>
                <a:sym typeface="Arial"/>
              </a:rPr>
            </a:br>
            <a:r>
              <a:rPr b="1" i="0" lang="en-US" sz="2800" u="none" cap="none" strike="noStrike">
                <a:solidFill>
                  <a:srgbClr val="F5F7FA"/>
                </a:solidFill>
                <a:latin typeface="Arial"/>
                <a:ea typeface="Arial"/>
                <a:cs typeface="Arial"/>
                <a:sym typeface="Arial"/>
              </a:rPr>
              <a:t>TO ANTICIPATING THEM</a:t>
            </a:r>
            <a:endParaRPr b="0" i="0" sz="1400" u="none" cap="none" strike="noStrike">
              <a:solidFill>
                <a:srgbClr val="000000"/>
              </a:solidFill>
              <a:latin typeface="Arial"/>
              <a:ea typeface="Arial"/>
              <a:cs typeface="Arial"/>
              <a:sym typeface="Arial"/>
            </a:endParaRPr>
          </a:p>
        </p:txBody>
      </p:sp>
      <p:sp>
        <p:nvSpPr>
          <p:cNvPr id="104" name="Google Shape;104;p15"/>
          <p:cNvSpPr txBox="1"/>
          <p:nvPr/>
        </p:nvSpPr>
        <p:spPr>
          <a:xfrm>
            <a:off x="685800" y="2606040"/>
            <a:ext cx="5257800" cy="831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A9B6C4"/>
                </a:solidFill>
                <a:latin typeface="Arial"/>
                <a:ea typeface="Arial"/>
                <a:cs typeface="Arial"/>
                <a:sym typeface="Arial"/>
              </a:rPr>
              <a:t>Fuel prices affect everyday mobility and business operating costs. Most tools tell us what fuel costs now, not what it may cost next.</a:t>
            </a:r>
            <a:endParaRPr b="0" i="0" sz="1600" u="none" cap="none" strike="noStrike">
              <a:solidFill>
                <a:srgbClr val="000000"/>
              </a:solidFill>
              <a:latin typeface="Arial"/>
              <a:ea typeface="Arial"/>
              <a:cs typeface="Arial"/>
              <a:sym typeface="Arial"/>
            </a:endParaRPr>
          </a:p>
        </p:txBody>
      </p:sp>
      <p:sp>
        <p:nvSpPr>
          <p:cNvPr id="105" name="Google Shape;105;p15"/>
          <p:cNvSpPr/>
          <p:nvPr/>
        </p:nvSpPr>
        <p:spPr>
          <a:xfrm>
            <a:off x="6291072" y="1051560"/>
            <a:ext cx="27300" cy="4389000"/>
          </a:xfrm>
          <a:prstGeom prst="rect">
            <a:avLst/>
          </a:prstGeom>
          <a:solidFill>
            <a:srgbClr val="6D9EE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 name="Google Shape;106;p15"/>
          <p:cNvSpPr txBox="1"/>
          <p:nvPr/>
        </p:nvSpPr>
        <p:spPr>
          <a:xfrm>
            <a:off x="6720840" y="1078992"/>
            <a:ext cx="4297800" cy="2769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E89E34"/>
                </a:solidFill>
                <a:latin typeface="Arial"/>
                <a:ea typeface="Arial"/>
                <a:cs typeface="Arial"/>
                <a:sym typeface="Arial"/>
              </a:rPr>
              <a:t>OUR QUESTION</a:t>
            </a:r>
            <a:endParaRPr b="0" i="0" sz="1600" u="none" cap="none" strike="noStrike">
              <a:solidFill>
                <a:srgbClr val="000000"/>
              </a:solidFill>
              <a:latin typeface="Arial"/>
              <a:ea typeface="Arial"/>
              <a:cs typeface="Arial"/>
              <a:sym typeface="Arial"/>
            </a:endParaRPr>
          </a:p>
        </p:txBody>
      </p:sp>
      <p:sp>
        <p:nvSpPr>
          <p:cNvPr id="107" name="Google Shape;107;p15"/>
          <p:cNvSpPr txBox="1"/>
          <p:nvPr/>
        </p:nvSpPr>
        <p:spPr>
          <a:xfrm>
            <a:off x="6720852" y="1463050"/>
            <a:ext cx="5118000" cy="1354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50"/>
              <a:buFont typeface="Arial"/>
              <a:buNone/>
            </a:pPr>
            <a:r>
              <a:rPr b="1" i="0" lang="en-US" sz="2050" u="none" cap="none" strike="noStrike">
                <a:solidFill>
                  <a:srgbClr val="F5F7FA"/>
                </a:solidFill>
                <a:latin typeface="Arial"/>
                <a:ea typeface="Arial"/>
                <a:cs typeface="Arial"/>
                <a:sym typeface="Arial"/>
              </a:rPr>
              <a:t>Can station characteristics, location, seasonality and recent market data help predict future diesel prices in France?</a:t>
            </a:r>
            <a:endParaRPr b="0" i="0" sz="1600" u="none" cap="none" strike="noStrike">
              <a:solidFill>
                <a:srgbClr val="000000"/>
              </a:solidFill>
              <a:latin typeface="Arial"/>
              <a:ea typeface="Arial"/>
              <a:cs typeface="Arial"/>
              <a:sym typeface="Arial"/>
            </a:endParaRPr>
          </a:p>
        </p:txBody>
      </p:sp>
      <p:sp>
        <p:nvSpPr>
          <p:cNvPr id="108" name="Google Shape;108;p15"/>
          <p:cNvSpPr txBox="1"/>
          <p:nvPr/>
        </p:nvSpPr>
        <p:spPr>
          <a:xfrm>
            <a:off x="6720840" y="3429000"/>
            <a:ext cx="4023300" cy="2694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E89E34"/>
                </a:solidFill>
                <a:latin typeface="Arial"/>
                <a:ea typeface="Arial"/>
                <a:cs typeface="Arial"/>
                <a:sym typeface="Arial"/>
              </a:rPr>
              <a:t>POTENTIAL USE CASES</a:t>
            </a:r>
            <a:endParaRPr b="0" i="0" sz="1600" u="none" cap="none" strike="noStrike">
              <a:solidFill>
                <a:srgbClr val="000000"/>
              </a:solidFill>
              <a:latin typeface="Arial"/>
              <a:ea typeface="Arial"/>
              <a:cs typeface="Arial"/>
              <a:sym typeface="Arial"/>
            </a:endParaRPr>
          </a:p>
        </p:txBody>
      </p:sp>
      <p:sp>
        <p:nvSpPr>
          <p:cNvPr id="109" name="Google Shape;109;p15"/>
          <p:cNvSpPr txBox="1"/>
          <p:nvPr/>
        </p:nvSpPr>
        <p:spPr>
          <a:xfrm>
            <a:off x="6720840" y="3767328"/>
            <a:ext cx="4114800" cy="5541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F5F7FA"/>
                </a:solidFill>
                <a:latin typeface="Arial"/>
                <a:ea typeface="Arial"/>
                <a:cs typeface="Arial"/>
                <a:sym typeface="Arial"/>
              </a:rPr>
              <a:t>Drivers  •  Fleet management</a:t>
            </a:r>
            <a:br>
              <a:rPr b="1" i="0" lang="en-US" sz="1500" u="none" cap="none" strike="noStrike">
                <a:solidFill>
                  <a:srgbClr val="F5F7FA"/>
                </a:solidFill>
                <a:latin typeface="Arial"/>
                <a:ea typeface="Arial"/>
                <a:cs typeface="Arial"/>
                <a:sym typeface="Arial"/>
              </a:rPr>
            </a:br>
            <a:r>
              <a:rPr b="1" i="0" lang="en-US" sz="1500" u="none" cap="none" strike="noStrike">
                <a:solidFill>
                  <a:srgbClr val="F5F7FA"/>
                </a:solidFill>
                <a:latin typeface="Arial"/>
                <a:ea typeface="Arial"/>
                <a:cs typeface="Arial"/>
                <a:sym typeface="Arial"/>
              </a:rPr>
              <a:t>Delivery  •  Mobility services</a:t>
            </a:r>
            <a:endParaRPr b="0" i="0" sz="1600" u="none" cap="none" strike="noStrike">
              <a:solidFill>
                <a:srgbClr val="000000"/>
              </a:solidFill>
              <a:latin typeface="Arial"/>
              <a:ea typeface="Arial"/>
              <a:cs typeface="Arial"/>
              <a:sym typeface="Arial"/>
            </a:endParaRPr>
          </a:p>
        </p:txBody>
      </p:sp>
      <p:sp>
        <p:nvSpPr>
          <p:cNvPr id="110" name="Google Shape;110;p15"/>
          <p:cNvSpPr/>
          <p:nvPr/>
        </p:nvSpPr>
        <p:spPr>
          <a:xfrm>
            <a:off x="685800" y="5687568"/>
            <a:ext cx="594300" cy="22800"/>
          </a:xfrm>
          <a:prstGeom prst="rect">
            <a:avLst/>
          </a:prstGeom>
          <a:solidFill>
            <a:srgbClr val="E89E3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6"/>
          <p:cNvSpPr/>
          <p:nvPr/>
        </p:nvSpPr>
        <p:spPr>
          <a:xfrm>
            <a:off x="0" y="0"/>
            <a:ext cx="12191695" cy="6858000"/>
          </a:xfrm>
          <a:prstGeom prst="rect">
            <a:avLst/>
          </a:prstGeom>
          <a:solidFill>
            <a:srgbClr val="0F1B2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6" name="Google Shape;116;p16"/>
          <p:cNvSpPr txBox="1"/>
          <p:nvPr/>
        </p:nvSpPr>
        <p:spPr>
          <a:xfrm>
            <a:off x="502920" y="292608"/>
            <a:ext cx="1106424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FFFFFF"/>
                </a:solidFill>
                <a:latin typeface="Calibri"/>
                <a:ea typeface="Calibri"/>
                <a:cs typeface="Calibri"/>
                <a:sym typeface="Calibri"/>
              </a:rPr>
              <a:t>2. Data Pipeline &amp; Data Quality</a:t>
            </a:r>
            <a:endParaRPr b="0" i="0" sz="1400" u="none" cap="none" strike="noStrike">
              <a:solidFill>
                <a:srgbClr val="000000"/>
              </a:solidFill>
              <a:latin typeface="Arial"/>
              <a:ea typeface="Arial"/>
              <a:cs typeface="Arial"/>
              <a:sym typeface="Arial"/>
            </a:endParaRPr>
          </a:p>
        </p:txBody>
      </p:sp>
      <p:sp>
        <p:nvSpPr>
          <p:cNvPr id="117" name="Google Shape;117;p16"/>
          <p:cNvSpPr txBox="1"/>
          <p:nvPr/>
        </p:nvSpPr>
        <p:spPr>
          <a:xfrm>
            <a:off x="530352" y="914400"/>
            <a:ext cx="106986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Arial"/>
                <a:ea typeface="Arial"/>
                <a:cs typeface="Arial"/>
                <a:sym typeface="Arial"/>
              </a:rPr>
              <a:t>We combined French fuel data with station information and two external market signals </a:t>
            </a:r>
            <a:endParaRPr b="0" i="0" sz="1600" u="none" cap="none" strike="noStrike">
              <a:solidFill>
                <a:schemeClr val="lt1"/>
              </a:solidFill>
              <a:latin typeface="Arial"/>
              <a:ea typeface="Arial"/>
              <a:cs typeface="Arial"/>
              <a:sym typeface="Arial"/>
            </a:endParaRPr>
          </a:p>
        </p:txBody>
      </p:sp>
      <p:pic>
        <p:nvPicPr>
          <p:cNvPr descr="oil_market.png" id="118" name="Google Shape;118;p16"/>
          <p:cNvPicPr preferRelativeResize="0"/>
          <p:nvPr/>
        </p:nvPicPr>
        <p:blipFill rotWithShape="1">
          <a:blip r:embed="rId3">
            <a:alphaModFix/>
          </a:blip>
          <a:srcRect b="0" l="0" r="0" t="0"/>
          <a:stretch/>
        </p:blipFill>
        <p:spPr>
          <a:xfrm>
            <a:off x="6903720" y="1234440"/>
            <a:ext cx="4572000" cy="2423160"/>
          </a:xfrm>
          <a:prstGeom prst="rect">
            <a:avLst/>
          </a:prstGeom>
          <a:noFill/>
          <a:ln>
            <a:noFill/>
          </a:ln>
        </p:spPr>
      </p:pic>
      <p:sp>
        <p:nvSpPr>
          <p:cNvPr id="119" name="Google Shape;119;p16"/>
          <p:cNvSpPr/>
          <p:nvPr/>
        </p:nvSpPr>
        <p:spPr>
          <a:xfrm>
            <a:off x="594360" y="1325880"/>
            <a:ext cx="2743200" cy="1234440"/>
          </a:xfrm>
          <a:prstGeom prst="roundRect">
            <a:avLst>
              <a:gd fmla="val 16667" name="adj"/>
            </a:avLst>
          </a:prstGeom>
          <a:solidFill>
            <a:srgbClr val="1B2A3B"/>
          </a:solidFill>
          <a:ln cap="flat" cmpd="sng" w="9525">
            <a:solidFill>
              <a:srgbClr val="35465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0" name="Google Shape;120;p16"/>
          <p:cNvSpPr txBox="1"/>
          <p:nvPr/>
        </p:nvSpPr>
        <p:spPr>
          <a:xfrm>
            <a:off x="777251" y="1463050"/>
            <a:ext cx="2743200" cy="121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50"/>
              <a:buFont typeface="Arial"/>
              <a:buNone/>
            </a:pPr>
            <a:r>
              <a:rPr b="1" i="0" lang="en-US" sz="1750" u="none" cap="none" strike="noStrike">
                <a:solidFill>
                  <a:srgbClr val="E89E34"/>
                </a:solidFill>
                <a:latin typeface="Calibri"/>
                <a:ea typeface="Calibri"/>
                <a:cs typeface="Calibri"/>
                <a:sym typeface="Calibri"/>
              </a:rPr>
              <a:t>FUEL PRICES</a:t>
            </a:r>
            <a:endParaRPr b="0" i="0" sz="18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rPr b="0" i="0" lang="en-US" sz="1600" u="none" cap="none" strike="noStrike">
                <a:solidFill>
                  <a:schemeClr val="lt1"/>
                </a:solidFill>
                <a:latin typeface="Calibri"/>
                <a:ea typeface="Calibri"/>
                <a:cs typeface="Calibri"/>
                <a:sym typeface="Calibri"/>
              </a:rPr>
              <a:t>2025 French station prices</a:t>
            </a:r>
            <a:endParaRPr b="0" i="0" sz="1600" u="none" cap="none" strike="noStrike">
              <a:solidFill>
                <a:schemeClr val="lt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0" i="0" lang="en-US" sz="1600" u="none" cap="none" strike="noStrike">
                <a:solidFill>
                  <a:schemeClr val="lt1"/>
                </a:solidFill>
                <a:latin typeface="Calibri"/>
                <a:ea typeface="Calibri"/>
                <a:cs typeface="Calibri"/>
                <a:sym typeface="Calibri"/>
              </a:rPr>
              <a:t>5.3M price records</a:t>
            </a:r>
            <a:endParaRPr b="0" i="0" sz="1600" u="none" cap="none" strike="noStrike">
              <a:solidFill>
                <a:schemeClr val="lt1"/>
              </a:solidFill>
              <a:latin typeface="Calibri"/>
              <a:ea typeface="Calibri"/>
              <a:cs typeface="Calibri"/>
              <a:sym typeface="Calibri"/>
            </a:endParaRPr>
          </a:p>
          <a:p>
            <a:pPr indent="0" lvl="0" marL="0" marR="0" rtl="0" algn="l">
              <a:lnSpc>
                <a:spcPct val="100000"/>
              </a:lnSpc>
              <a:spcBef>
                <a:spcPts val="700"/>
              </a:spcBef>
              <a:spcAft>
                <a:spcPts val="0"/>
              </a:spcAft>
              <a:buClr>
                <a:srgbClr val="000000"/>
              </a:buClr>
              <a:buSzPts val="1250"/>
              <a:buFont typeface="Arial"/>
              <a:buNone/>
            </a:pPr>
            <a:r>
              <a:t/>
            </a:r>
            <a:endParaRPr b="0" i="0" sz="1250" u="none" cap="none" strike="noStrike">
              <a:solidFill>
                <a:schemeClr val="lt1"/>
              </a:solidFill>
              <a:latin typeface="Calibri"/>
              <a:ea typeface="Calibri"/>
              <a:cs typeface="Calibri"/>
              <a:sym typeface="Calibri"/>
            </a:endParaRPr>
          </a:p>
        </p:txBody>
      </p:sp>
      <p:sp>
        <p:nvSpPr>
          <p:cNvPr id="121" name="Google Shape;121;p16"/>
          <p:cNvSpPr/>
          <p:nvPr/>
        </p:nvSpPr>
        <p:spPr>
          <a:xfrm>
            <a:off x="594360" y="2788920"/>
            <a:ext cx="2743200" cy="1234440"/>
          </a:xfrm>
          <a:prstGeom prst="roundRect">
            <a:avLst>
              <a:gd fmla="val 16667" name="adj"/>
            </a:avLst>
          </a:prstGeom>
          <a:solidFill>
            <a:srgbClr val="1B2A3B"/>
          </a:solidFill>
          <a:ln cap="flat" cmpd="sng" w="9525">
            <a:solidFill>
              <a:srgbClr val="35465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 name="Google Shape;122;p16"/>
          <p:cNvSpPr txBox="1"/>
          <p:nvPr/>
        </p:nvSpPr>
        <p:spPr>
          <a:xfrm>
            <a:off x="777240" y="2926079"/>
            <a:ext cx="2423100" cy="86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50"/>
              <a:buFont typeface="Arial"/>
              <a:buNone/>
            </a:pPr>
            <a:r>
              <a:rPr b="1" i="0" lang="en-US" sz="1750" u="none" cap="none" strike="noStrike">
                <a:solidFill>
                  <a:srgbClr val="E89E34"/>
                </a:solidFill>
                <a:latin typeface="Calibri"/>
                <a:ea typeface="Calibri"/>
                <a:cs typeface="Calibri"/>
                <a:sym typeface="Calibri"/>
              </a:rPr>
              <a:t>STATION METADATA</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700"/>
              </a:spcBef>
              <a:spcAft>
                <a:spcPts val="0"/>
              </a:spcAft>
              <a:buClr>
                <a:srgbClr val="000000"/>
              </a:buClr>
              <a:buSzPts val="1350"/>
              <a:buFont typeface="Arial"/>
              <a:buNone/>
            </a:pPr>
            <a:r>
              <a:rPr b="0" i="0" lang="en-US" sz="1350" u="none" cap="none" strike="noStrike">
                <a:solidFill>
                  <a:srgbClr val="FFFFFF"/>
                </a:solidFill>
                <a:latin typeface="Calibri"/>
                <a:ea typeface="Calibri"/>
                <a:cs typeface="Calibri"/>
                <a:sym typeface="Calibri"/>
              </a:rPr>
              <a:t>Latitude • Longitude</a:t>
            </a:r>
            <a:br>
              <a:rPr b="0" i="0" lang="en-US" sz="1350" u="none" cap="none" strike="noStrike">
                <a:solidFill>
                  <a:srgbClr val="FFFFFF"/>
                </a:solidFill>
                <a:latin typeface="Calibri"/>
                <a:ea typeface="Calibri"/>
                <a:cs typeface="Calibri"/>
                <a:sym typeface="Calibri"/>
              </a:rPr>
            </a:br>
            <a:r>
              <a:rPr b="0" i="0" lang="en-US" sz="1350" u="none" cap="none" strike="noStrike">
                <a:solidFill>
                  <a:srgbClr val="FFFFFF"/>
                </a:solidFill>
                <a:latin typeface="Calibri"/>
                <a:ea typeface="Calibri"/>
                <a:cs typeface="Calibri"/>
                <a:sym typeface="Calibri"/>
              </a:rPr>
              <a:t>Highway • 24/7 payment</a:t>
            </a:r>
            <a:endParaRPr b="0" i="0" sz="1600" u="none" cap="none" strike="noStrike">
              <a:solidFill>
                <a:srgbClr val="000000"/>
              </a:solidFill>
              <a:latin typeface="Arial"/>
              <a:ea typeface="Arial"/>
              <a:cs typeface="Arial"/>
              <a:sym typeface="Arial"/>
            </a:endParaRPr>
          </a:p>
        </p:txBody>
      </p:sp>
      <p:sp>
        <p:nvSpPr>
          <p:cNvPr id="123" name="Google Shape;123;p16"/>
          <p:cNvSpPr/>
          <p:nvPr/>
        </p:nvSpPr>
        <p:spPr>
          <a:xfrm>
            <a:off x="3520440" y="1325880"/>
            <a:ext cx="2743200" cy="1234440"/>
          </a:xfrm>
          <a:prstGeom prst="roundRect">
            <a:avLst>
              <a:gd fmla="val 16667" name="adj"/>
            </a:avLst>
          </a:prstGeom>
          <a:solidFill>
            <a:srgbClr val="1B2A3B"/>
          </a:solidFill>
          <a:ln cap="flat" cmpd="sng" w="9525">
            <a:solidFill>
              <a:srgbClr val="35465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4" name="Google Shape;124;p16"/>
          <p:cNvSpPr txBox="1"/>
          <p:nvPr/>
        </p:nvSpPr>
        <p:spPr>
          <a:xfrm>
            <a:off x="3703325" y="1463050"/>
            <a:ext cx="2829000" cy="705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50"/>
              <a:buFont typeface="Arial"/>
              <a:buNone/>
            </a:pPr>
            <a:r>
              <a:rPr b="1" i="0" lang="en-US" sz="1750" u="none" cap="none" strike="noStrike">
                <a:solidFill>
                  <a:srgbClr val="E89E34"/>
                </a:solidFill>
                <a:latin typeface="Calibri"/>
                <a:ea typeface="Calibri"/>
                <a:cs typeface="Calibri"/>
                <a:sym typeface="Calibri"/>
              </a:rPr>
              <a:t>BRENT</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700"/>
              </a:spcBef>
              <a:spcAft>
                <a:spcPts val="0"/>
              </a:spcAft>
              <a:buClr>
                <a:srgbClr val="000000"/>
              </a:buClr>
              <a:buSzPts val="1650"/>
              <a:buFont typeface="Arial"/>
              <a:buNone/>
            </a:pPr>
            <a:r>
              <a:rPr b="0" i="0" lang="en-US" sz="1650" u="none" cap="none" strike="noStrike">
                <a:solidFill>
                  <a:srgbClr val="FFFFFF"/>
                </a:solidFill>
                <a:latin typeface="Calibri"/>
                <a:ea typeface="Calibri"/>
                <a:cs typeface="Calibri"/>
                <a:sym typeface="Calibri"/>
              </a:rPr>
              <a:t>Daily crude-oil market signal</a:t>
            </a:r>
            <a:endParaRPr b="0" i="0" sz="1900" u="none" cap="none" strike="noStrike">
              <a:solidFill>
                <a:srgbClr val="000000"/>
              </a:solidFill>
              <a:latin typeface="Arial"/>
              <a:ea typeface="Arial"/>
              <a:cs typeface="Arial"/>
              <a:sym typeface="Arial"/>
            </a:endParaRPr>
          </a:p>
        </p:txBody>
      </p:sp>
      <p:sp>
        <p:nvSpPr>
          <p:cNvPr id="125" name="Google Shape;125;p16"/>
          <p:cNvSpPr/>
          <p:nvPr/>
        </p:nvSpPr>
        <p:spPr>
          <a:xfrm>
            <a:off x="3520440" y="2788920"/>
            <a:ext cx="2743200" cy="1234440"/>
          </a:xfrm>
          <a:prstGeom prst="roundRect">
            <a:avLst>
              <a:gd fmla="val 16667" name="adj"/>
            </a:avLst>
          </a:prstGeom>
          <a:solidFill>
            <a:srgbClr val="1B2A3B"/>
          </a:solidFill>
          <a:ln cap="flat" cmpd="sng" w="9525">
            <a:solidFill>
              <a:srgbClr val="35465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 name="Google Shape;126;p16"/>
          <p:cNvSpPr txBox="1"/>
          <p:nvPr/>
        </p:nvSpPr>
        <p:spPr>
          <a:xfrm>
            <a:off x="3703320" y="2926079"/>
            <a:ext cx="2423100" cy="1293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50"/>
              <a:buFont typeface="Arial"/>
              <a:buNone/>
            </a:pPr>
            <a:r>
              <a:rPr b="1" i="0" lang="en-US" sz="1750" u="none" cap="none" strike="noStrike">
                <a:solidFill>
                  <a:srgbClr val="E89E34"/>
                </a:solidFill>
                <a:latin typeface="Calibri"/>
                <a:ea typeface="Calibri"/>
                <a:cs typeface="Calibri"/>
                <a:sym typeface="Calibri"/>
              </a:rPr>
              <a:t>GPR</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700"/>
              </a:spcBef>
              <a:spcAft>
                <a:spcPts val="0"/>
              </a:spcAft>
              <a:buClr>
                <a:srgbClr val="000000"/>
              </a:buClr>
              <a:buSzPts val="1600"/>
              <a:buFont typeface="Arial"/>
              <a:buNone/>
            </a:pPr>
            <a:r>
              <a:rPr b="0" i="0" lang="en-US" sz="1600" u="none" cap="none" strike="noStrike">
                <a:solidFill>
                  <a:srgbClr val="FFFFFF"/>
                </a:solidFill>
                <a:latin typeface="Calibri"/>
                <a:ea typeface="Calibri"/>
                <a:cs typeface="Calibri"/>
                <a:sym typeface="Calibri"/>
              </a:rPr>
              <a:t>Geopolitical Risk Index</a:t>
            </a:r>
            <a:endParaRPr b="0" i="0" sz="1600" u="none" cap="none" strike="noStrike">
              <a:solidFill>
                <a:srgbClr val="FFFFFF"/>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0" i="0" lang="en-US" sz="1600" u="none" cap="none" strike="noStrike">
                <a:solidFill>
                  <a:schemeClr val="lt1"/>
                </a:solidFill>
                <a:latin typeface="Calibri"/>
                <a:ea typeface="Calibri"/>
                <a:cs typeface="Calibri"/>
                <a:sym typeface="Calibri"/>
              </a:rPr>
              <a:t>Daily risk score</a:t>
            </a:r>
            <a:endParaRPr b="0" i="0" sz="1600" u="none" cap="none" strike="noStrike">
              <a:solidFill>
                <a:schemeClr val="lt1"/>
              </a:solidFill>
              <a:latin typeface="Calibri"/>
              <a:ea typeface="Calibri"/>
              <a:cs typeface="Calibri"/>
              <a:sym typeface="Calibri"/>
            </a:endParaRPr>
          </a:p>
          <a:p>
            <a:pPr indent="0" lvl="0" marL="0" marR="0" rtl="0" algn="l">
              <a:lnSpc>
                <a:spcPct val="100000"/>
              </a:lnSpc>
              <a:spcBef>
                <a:spcPts val="700"/>
              </a:spcBef>
              <a:spcAft>
                <a:spcPts val="0"/>
              </a:spcAft>
              <a:buClr>
                <a:srgbClr val="000000"/>
              </a:buClr>
              <a:buSzPts val="1450"/>
              <a:buFont typeface="Arial"/>
              <a:buNone/>
            </a:pPr>
            <a:r>
              <a:t/>
            </a:r>
            <a:endParaRPr b="0" i="0" sz="1450" u="none" cap="none" strike="noStrike">
              <a:solidFill>
                <a:srgbClr val="FFFFFF"/>
              </a:solidFill>
              <a:latin typeface="Calibri"/>
              <a:ea typeface="Calibri"/>
              <a:cs typeface="Calibri"/>
              <a:sym typeface="Calibri"/>
            </a:endParaRPr>
          </a:p>
        </p:txBody>
      </p:sp>
      <p:sp>
        <p:nvSpPr>
          <p:cNvPr id="127" name="Google Shape;127;p16"/>
          <p:cNvSpPr/>
          <p:nvPr/>
        </p:nvSpPr>
        <p:spPr>
          <a:xfrm>
            <a:off x="594350" y="4343400"/>
            <a:ext cx="5853000" cy="1789200"/>
          </a:xfrm>
          <a:prstGeom prst="roundRect">
            <a:avLst>
              <a:gd fmla="val 16667" name="adj"/>
            </a:avLst>
          </a:prstGeom>
          <a:solidFill>
            <a:srgbClr val="1B2A3B"/>
          </a:solidFill>
          <a:ln cap="flat" cmpd="sng" w="9525">
            <a:solidFill>
              <a:srgbClr val="35465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 name="Google Shape;128;p16"/>
          <p:cNvSpPr txBox="1"/>
          <p:nvPr/>
        </p:nvSpPr>
        <p:spPr>
          <a:xfrm>
            <a:off x="777250" y="4480550"/>
            <a:ext cx="5947800" cy="180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50"/>
              <a:buFont typeface="Arial"/>
              <a:buNone/>
            </a:pPr>
            <a:r>
              <a:rPr b="1" i="0" lang="en-US" sz="1750" u="none" cap="none" strike="noStrike">
                <a:solidFill>
                  <a:srgbClr val="E89E34"/>
                </a:solidFill>
                <a:latin typeface="Calibri"/>
                <a:ea typeface="Calibri"/>
                <a:cs typeface="Calibri"/>
                <a:sym typeface="Calibri"/>
              </a:rPr>
              <a:t>QUALITY CHECKS</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700"/>
              </a:spcBef>
              <a:spcAft>
                <a:spcPts val="0"/>
              </a:spcAft>
              <a:buClr>
                <a:srgbClr val="000000"/>
              </a:buClr>
              <a:buSzPts val="1650"/>
              <a:buFont typeface="Arial"/>
              <a:buNone/>
            </a:pPr>
            <a:r>
              <a:rPr b="0" i="0" lang="en-US" sz="1650" u="none" cap="none" strike="noStrike">
                <a:solidFill>
                  <a:srgbClr val="FFFFFF"/>
                </a:solidFill>
                <a:latin typeface="Calibri"/>
                <a:ea typeface="Calibri"/>
                <a:cs typeface="Calibri"/>
                <a:sym typeface="Calibri"/>
              </a:rPr>
              <a:t>Missing essentials removed • dates/postal codes standardized • duplicates/anomalies checked • external data aligned</a:t>
            </a:r>
            <a:endParaRPr b="0" i="0" sz="1650" u="none" cap="none" strike="noStrike">
              <a:solidFill>
                <a:srgbClr val="FFFFFF"/>
              </a:solidFill>
              <a:latin typeface="Calibri"/>
              <a:ea typeface="Calibri"/>
              <a:cs typeface="Calibri"/>
              <a:sym typeface="Calibri"/>
            </a:endParaRPr>
          </a:p>
          <a:p>
            <a:pPr indent="0" lvl="0" marL="0" marR="0" rtl="0" algn="l">
              <a:lnSpc>
                <a:spcPct val="100000"/>
              </a:lnSpc>
              <a:spcBef>
                <a:spcPts val="700"/>
              </a:spcBef>
              <a:spcAft>
                <a:spcPts val="0"/>
              </a:spcAft>
              <a:buClr>
                <a:srgbClr val="000000"/>
              </a:buClr>
              <a:buSzPts val="1250"/>
              <a:buFont typeface="Arial"/>
              <a:buNone/>
            </a:pPr>
            <a:r>
              <a:t/>
            </a:r>
            <a:endParaRPr b="0" i="0" sz="1250" u="none" cap="none" strike="noStrike">
              <a:solidFill>
                <a:schemeClr val="lt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0" i="0" lang="en-US" sz="1600" u="none" cap="none" strike="noStrike">
                <a:solidFill>
                  <a:schemeClr val="lt1"/>
                </a:solidFill>
                <a:latin typeface="Arial"/>
                <a:ea typeface="Arial"/>
                <a:cs typeface="Arial"/>
                <a:sym typeface="Arial"/>
              </a:rPr>
              <a:t>FINAL MODELING DATASET  ≈ 1.5M diesel observations</a:t>
            </a:r>
            <a:endParaRPr b="0" i="0" sz="1600" u="none" cap="none" strike="noStrike">
              <a:solidFill>
                <a:schemeClr val="lt1"/>
              </a:solidFill>
              <a:latin typeface="Arial"/>
              <a:ea typeface="Arial"/>
              <a:cs typeface="Arial"/>
              <a:sym typeface="Arial"/>
            </a:endParaRPr>
          </a:p>
          <a:p>
            <a:pPr indent="0" lvl="0" marL="0" marR="0" rtl="0" algn="l">
              <a:lnSpc>
                <a:spcPct val="100000"/>
              </a:lnSpc>
              <a:spcBef>
                <a:spcPts val="700"/>
              </a:spcBef>
              <a:spcAft>
                <a:spcPts val="0"/>
              </a:spcAft>
              <a:buClr>
                <a:srgbClr val="000000"/>
              </a:buClr>
              <a:buSzPts val="1250"/>
              <a:buFont typeface="Arial"/>
              <a:buNone/>
            </a:pPr>
            <a:r>
              <a:t/>
            </a:r>
            <a:endParaRPr b="0" i="0" sz="1250" u="none" cap="none" strike="noStrike">
              <a:solidFill>
                <a:srgbClr val="FFFFFF"/>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7"/>
          <p:cNvSpPr/>
          <p:nvPr/>
        </p:nvSpPr>
        <p:spPr>
          <a:xfrm>
            <a:off x="0" y="19821"/>
            <a:ext cx="12191700" cy="6858000"/>
          </a:xfrm>
          <a:prstGeom prst="rect">
            <a:avLst/>
          </a:prstGeom>
          <a:solidFill>
            <a:srgbClr val="0F1B2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4" name="Google Shape;134;p17"/>
          <p:cNvSpPr txBox="1"/>
          <p:nvPr/>
        </p:nvSpPr>
        <p:spPr>
          <a:xfrm>
            <a:off x="502920" y="292608"/>
            <a:ext cx="11064240" cy="68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FFFFFF"/>
                </a:solidFill>
                <a:latin typeface="Calibri"/>
                <a:ea typeface="Calibri"/>
                <a:cs typeface="Calibri"/>
                <a:sym typeface="Calibri"/>
              </a:rPr>
              <a:t>3. EDA → What drives diesel prices?</a:t>
            </a:r>
            <a:endParaRPr b="0" i="0" sz="1400" u="none" cap="none" strike="noStrike">
              <a:solidFill>
                <a:srgbClr val="000000"/>
              </a:solidFill>
              <a:latin typeface="Arial"/>
              <a:ea typeface="Arial"/>
              <a:cs typeface="Arial"/>
              <a:sym typeface="Arial"/>
            </a:endParaRPr>
          </a:p>
        </p:txBody>
      </p:sp>
      <p:sp>
        <p:nvSpPr>
          <p:cNvPr id="135" name="Google Shape;135;p17"/>
          <p:cNvSpPr txBox="1"/>
          <p:nvPr/>
        </p:nvSpPr>
        <p:spPr>
          <a:xfrm>
            <a:off x="530352" y="914400"/>
            <a:ext cx="106986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CDD6DE"/>
                </a:solidFill>
                <a:latin typeface="Calibri"/>
                <a:ea typeface="Calibri"/>
                <a:cs typeface="Calibri"/>
                <a:sym typeface="Calibri"/>
              </a:rPr>
              <a:t>The exploratory analysis revealed clear station-type, geographic and cross-fuel relationships.</a:t>
            </a:r>
            <a:endParaRPr b="0" i="0" sz="1600" u="none" cap="none" strike="noStrike">
              <a:solidFill>
                <a:srgbClr val="000000"/>
              </a:solidFill>
              <a:latin typeface="Arial"/>
              <a:ea typeface="Arial"/>
              <a:cs typeface="Arial"/>
              <a:sym typeface="Arial"/>
            </a:endParaRPr>
          </a:p>
        </p:txBody>
      </p:sp>
      <p:sp>
        <p:nvSpPr>
          <p:cNvPr id="136" name="Google Shape;136;p17"/>
          <p:cNvSpPr/>
          <p:nvPr/>
        </p:nvSpPr>
        <p:spPr>
          <a:xfrm>
            <a:off x="640080" y="1325880"/>
            <a:ext cx="2057400" cy="1234440"/>
          </a:xfrm>
          <a:prstGeom prst="roundRect">
            <a:avLst>
              <a:gd fmla="val 16667" name="adj"/>
            </a:avLst>
          </a:prstGeom>
          <a:solidFill>
            <a:srgbClr val="1B2A3B"/>
          </a:solidFill>
          <a:ln cap="flat" cmpd="sng" w="9525">
            <a:solidFill>
              <a:srgbClr val="35465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7" name="Google Shape;137;p17"/>
          <p:cNvSpPr txBox="1"/>
          <p:nvPr/>
        </p:nvSpPr>
        <p:spPr>
          <a:xfrm>
            <a:off x="822959" y="1463039"/>
            <a:ext cx="1737300" cy="705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50"/>
              <a:buFont typeface="Arial"/>
              <a:buNone/>
            </a:pPr>
            <a:r>
              <a:rPr b="1" i="0" lang="en-US" sz="1750" u="none" cap="none" strike="noStrike">
                <a:solidFill>
                  <a:srgbClr val="E89E34"/>
                </a:solidFill>
                <a:latin typeface="Calibri"/>
                <a:ea typeface="Calibri"/>
                <a:cs typeface="Calibri"/>
                <a:sym typeface="Calibri"/>
              </a:rPr>
              <a:t>MEDIAN</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700"/>
              </a:spcBef>
              <a:spcAft>
                <a:spcPts val="0"/>
              </a:spcAft>
              <a:buClr>
                <a:srgbClr val="000000"/>
              </a:buClr>
              <a:buSzPts val="1650"/>
              <a:buFont typeface="Arial"/>
              <a:buNone/>
            </a:pPr>
            <a:r>
              <a:rPr b="0" i="0" lang="en-US" sz="1650" u="none" cap="none" strike="noStrike">
                <a:solidFill>
                  <a:srgbClr val="FFFFFF"/>
                </a:solidFill>
                <a:latin typeface="Calibri"/>
                <a:ea typeface="Calibri"/>
                <a:cs typeface="Calibri"/>
                <a:sym typeface="Calibri"/>
              </a:rPr>
              <a:t>€1.636/L</a:t>
            </a:r>
            <a:endParaRPr b="0" i="0" sz="1900" u="none" cap="none" strike="noStrike">
              <a:solidFill>
                <a:srgbClr val="000000"/>
              </a:solidFill>
              <a:latin typeface="Arial"/>
              <a:ea typeface="Arial"/>
              <a:cs typeface="Arial"/>
              <a:sym typeface="Arial"/>
            </a:endParaRPr>
          </a:p>
        </p:txBody>
      </p:sp>
      <p:sp>
        <p:nvSpPr>
          <p:cNvPr id="138" name="Google Shape;138;p17"/>
          <p:cNvSpPr/>
          <p:nvPr/>
        </p:nvSpPr>
        <p:spPr>
          <a:xfrm>
            <a:off x="2880360" y="1325880"/>
            <a:ext cx="2240280" cy="1234440"/>
          </a:xfrm>
          <a:prstGeom prst="roundRect">
            <a:avLst>
              <a:gd fmla="val 16667" name="adj"/>
            </a:avLst>
          </a:prstGeom>
          <a:solidFill>
            <a:srgbClr val="1B2A3B"/>
          </a:solidFill>
          <a:ln cap="flat" cmpd="sng" w="9525">
            <a:solidFill>
              <a:srgbClr val="35465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9" name="Google Shape;139;p17"/>
          <p:cNvSpPr txBox="1"/>
          <p:nvPr/>
        </p:nvSpPr>
        <p:spPr>
          <a:xfrm>
            <a:off x="3063240" y="1463039"/>
            <a:ext cx="19203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50"/>
              <a:buFont typeface="Arial"/>
              <a:buNone/>
            </a:pPr>
            <a:r>
              <a:rPr b="1" i="0" lang="en-US" sz="1750" u="none" cap="none" strike="noStrike">
                <a:solidFill>
                  <a:srgbClr val="E89E34"/>
                </a:solidFill>
                <a:latin typeface="Calibri"/>
                <a:ea typeface="Calibri"/>
                <a:cs typeface="Calibri"/>
                <a:sym typeface="Calibri"/>
              </a:rPr>
              <a:t>HIGHWAY</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700"/>
              </a:spcBef>
              <a:spcAft>
                <a:spcPts val="0"/>
              </a:spcAft>
              <a:buClr>
                <a:srgbClr val="000000"/>
              </a:buClr>
              <a:buSzPts val="1650"/>
              <a:buFont typeface="Arial"/>
              <a:buNone/>
            </a:pPr>
            <a:r>
              <a:rPr b="0" i="0" lang="en-US" sz="1650" u="none" cap="none" strike="noStrike">
                <a:solidFill>
                  <a:srgbClr val="FFFFFF"/>
                </a:solidFill>
                <a:latin typeface="Calibri"/>
                <a:ea typeface="Calibri"/>
                <a:cs typeface="Calibri"/>
                <a:sym typeface="Calibri"/>
              </a:rPr>
              <a:t>€1.809/L</a:t>
            </a:r>
            <a:br>
              <a:rPr b="0" i="0" lang="en-US" sz="1650" u="none" cap="none" strike="noStrike">
                <a:solidFill>
                  <a:srgbClr val="FFFFFF"/>
                </a:solidFill>
                <a:latin typeface="Calibri"/>
                <a:ea typeface="Calibri"/>
                <a:cs typeface="Calibri"/>
                <a:sym typeface="Calibri"/>
              </a:rPr>
            </a:br>
            <a:r>
              <a:rPr b="0" i="0" lang="en-US" sz="1650" u="none" cap="none" strike="noStrike">
                <a:solidFill>
                  <a:srgbClr val="FFFFFF"/>
                </a:solidFill>
                <a:latin typeface="Calibri"/>
                <a:ea typeface="Calibri"/>
                <a:cs typeface="Calibri"/>
                <a:sym typeface="Calibri"/>
              </a:rPr>
              <a:t>vs €1.629/L roads</a:t>
            </a:r>
            <a:endParaRPr b="0" i="0" sz="1900" u="none" cap="none" strike="noStrike">
              <a:solidFill>
                <a:srgbClr val="000000"/>
              </a:solidFill>
              <a:latin typeface="Arial"/>
              <a:ea typeface="Arial"/>
              <a:cs typeface="Arial"/>
              <a:sym typeface="Arial"/>
            </a:endParaRPr>
          </a:p>
        </p:txBody>
      </p:sp>
      <p:sp>
        <p:nvSpPr>
          <p:cNvPr id="140" name="Google Shape;140;p17"/>
          <p:cNvSpPr/>
          <p:nvPr/>
        </p:nvSpPr>
        <p:spPr>
          <a:xfrm>
            <a:off x="5303520" y="1325880"/>
            <a:ext cx="2057400" cy="1234440"/>
          </a:xfrm>
          <a:prstGeom prst="roundRect">
            <a:avLst>
              <a:gd fmla="val 16667" name="adj"/>
            </a:avLst>
          </a:prstGeom>
          <a:solidFill>
            <a:srgbClr val="1B2A3B"/>
          </a:solidFill>
          <a:ln cap="flat" cmpd="sng" w="9525">
            <a:solidFill>
              <a:srgbClr val="35465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1" name="Google Shape;141;p17"/>
          <p:cNvSpPr txBox="1"/>
          <p:nvPr/>
        </p:nvSpPr>
        <p:spPr>
          <a:xfrm>
            <a:off x="5486400" y="1463039"/>
            <a:ext cx="1737300" cy="705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50"/>
              <a:buFont typeface="Arial"/>
              <a:buNone/>
            </a:pPr>
            <a:r>
              <a:rPr b="1" i="0" lang="en-US" sz="1750" u="none" cap="none" strike="noStrike">
                <a:solidFill>
                  <a:srgbClr val="E89E34"/>
                </a:solidFill>
                <a:latin typeface="Calibri"/>
                <a:ea typeface="Calibri"/>
                <a:cs typeface="Calibri"/>
                <a:sym typeface="Calibri"/>
              </a:rPr>
              <a:t>GEO RANGE</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700"/>
              </a:spcBef>
              <a:spcAft>
                <a:spcPts val="0"/>
              </a:spcAft>
              <a:buClr>
                <a:srgbClr val="000000"/>
              </a:buClr>
              <a:buSzPts val="1650"/>
              <a:buFont typeface="Arial"/>
              <a:buNone/>
            </a:pPr>
            <a:r>
              <a:rPr b="0" i="0" lang="en-US" sz="1650" u="none" cap="none" strike="noStrike">
                <a:solidFill>
                  <a:srgbClr val="FFFFFF"/>
                </a:solidFill>
                <a:latin typeface="Calibri"/>
                <a:ea typeface="Calibri"/>
                <a:cs typeface="Calibri"/>
                <a:sym typeface="Calibri"/>
              </a:rPr>
              <a:t>≈ €0.20/L</a:t>
            </a:r>
            <a:endParaRPr b="0" i="0" sz="1900" u="none" cap="none" strike="noStrike">
              <a:solidFill>
                <a:srgbClr val="000000"/>
              </a:solidFill>
              <a:latin typeface="Arial"/>
              <a:ea typeface="Arial"/>
              <a:cs typeface="Arial"/>
              <a:sym typeface="Arial"/>
            </a:endParaRPr>
          </a:p>
        </p:txBody>
      </p:sp>
      <p:sp>
        <p:nvSpPr>
          <p:cNvPr id="142" name="Google Shape;142;p17"/>
          <p:cNvSpPr/>
          <p:nvPr/>
        </p:nvSpPr>
        <p:spPr>
          <a:xfrm>
            <a:off x="8588100" y="1463050"/>
            <a:ext cx="2979300" cy="3919800"/>
          </a:xfrm>
          <a:prstGeom prst="roundRect">
            <a:avLst>
              <a:gd fmla="val 16667" name="adj"/>
            </a:avLst>
          </a:prstGeom>
          <a:solidFill>
            <a:srgbClr val="1B2A3B"/>
          </a:solidFill>
          <a:ln cap="flat" cmpd="sng" w="9525">
            <a:solidFill>
              <a:srgbClr val="35465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3" name="Google Shape;143;p17"/>
          <p:cNvSpPr txBox="1"/>
          <p:nvPr/>
        </p:nvSpPr>
        <p:spPr>
          <a:xfrm>
            <a:off x="8825950" y="1646875"/>
            <a:ext cx="2616600" cy="3364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150"/>
              <a:buFont typeface="Arial"/>
              <a:buNone/>
            </a:pPr>
            <a:r>
              <a:t/>
            </a:r>
            <a:endParaRPr b="1" i="0" sz="2150" u="none" cap="none" strike="noStrike">
              <a:solidFill>
                <a:srgbClr val="357858"/>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150"/>
              <a:buFont typeface="Arial"/>
              <a:buNone/>
            </a:pPr>
            <a:r>
              <a:rPr b="1" i="0" lang="en-US" sz="2150" u="none" cap="none" strike="noStrike">
                <a:solidFill>
                  <a:srgbClr val="357858"/>
                </a:solidFill>
                <a:latin typeface="Calibri"/>
                <a:ea typeface="Calibri"/>
                <a:cs typeface="Calibri"/>
                <a:sym typeface="Calibri"/>
              </a:rPr>
              <a:t>EDA TAKEAWAY</a:t>
            </a:r>
            <a:endParaRPr b="1" i="0" sz="2150" u="none" cap="none" strike="noStrike">
              <a:solidFill>
                <a:srgbClr val="357858"/>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850"/>
              <a:buFont typeface="Arial"/>
              <a:buNone/>
            </a:pPr>
            <a:r>
              <a:t/>
            </a:r>
            <a:endParaRPr b="1" i="0" sz="850" u="none" cap="none" strike="noStrike">
              <a:solidFill>
                <a:srgbClr val="357858"/>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2300"/>
              <a:buFont typeface="Arial"/>
              <a:buNone/>
            </a:pPr>
            <a:r>
              <a:rPr b="1" i="0" lang="en-US" sz="2300" u="none" cap="none" strike="noStrike">
                <a:solidFill>
                  <a:srgbClr val="F5F7FA"/>
                </a:solidFill>
                <a:latin typeface="Arial"/>
                <a:ea typeface="Arial"/>
                <a:cs typeface="Arial"/>
                <a:sym typeface="Arial"/>
              </a:rPr>
              <a:t>Diesel prices showed clear temporal and station level patterns.</a:t>
            </a:r>
            <a:endParaRPr b="0" i="0" sz="2300" u="none" cap="none" strike="noStrike">
              <a:solidFill>
                <a:schemeClr val="dk1"/>
              </a:solidFill>
              <a:latin typeface="Arial"/>
              <a:ea typeface="Arial"/>
              <a:cs typeface="Arial"/>
              <a:sym typeface="Arial"/>
            </a:endParaRPr>
          </a:p>
          <a:p>
            <a:pPr indent="0" lvl="0" marL="0" marR="0" rtl="0" algn="l">
              <a:lnSpc>
                <a:spcPct val="115000"/>
              </a:lnSpc>
              <a:spcBef>
                <a:spcPts val="700"/>
              </a:spcBef>
              <a:spcAft>
                <a:spcPts val="0"/>
              </a:spcAft>
              <a:buClr>
                <a:srgbClr val="000000"/>
              </a:buClr>
              <a:buSzPts val="2300"/>
              <a:buFont typeface="Arial"/>
              <a:buNone/>
            </a:pPr>
            <a:r>
              <a:t/>
            </a:r>
            <a:endParaRPr b="0" i="0" sz="2300" u="none" cap="none" strike="noStrike">
              <a:solidFill>
                <a:srgbClr val="FFFFFF"/>
              </a:solidFill>
              <a:latin typeface="Calibri"/>
              <a:ea typeface="Calibri"/>
              <a:cs typeface="Calibri"/>
              <a:sym typeface="Calibri"/>
            </a:endParaRPr>
          </a:p>
        </p:txBody>
      </p:sp>
      <p:pic>
        <p:nvPicPr>
          <p:cNvPr id="144" name="Google Shape;144;p17"/>
          <p:cNvPicPr preferRelativeResize="0"/>
          <p:nvPr/>
        </p:nvPicPr>
        <p:blipFill rotWithShape="1">
          <a:blip r:embed="rId3">
            <a:alphaModFix/>
          </a:blip>
          <a:srcRect b="0" l="0" r="0" t="0"/>
          <a:stretch/>
        </p:blipFill>
        <p:spPr>
          <a:xfrm>
            <a:off x="640075" y="2732204"/>
            <a:ext cx="7576850" cy="3919701"/>
          </a:xfrm>
          <a:prstGeom prst="rect">
            <a:avLst/>
          </a:prstGeom>
          <a:solidFill>
            <a:srgbClr val="0F1B2B"/>
          </a:solidFill>
          <a:ln>
            <a:noFill/>
          </a:ln>
          <a:effectLst>
            <a:outerShdw blurRad="40000" rotWithShape="0" dir="5400000" dist="23000">
              <a:srgbClr val="000000">
                <a:alpha val="34902"/>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B2B"/>
        </a:solidFill>
      </p:bgPr>
    </p:bg>
    <p:spTree>
      <p:nvGrpSpPr>
        <p:cNvPr id="148" name="Shape 148"/>
        <p:cNvGrpSpPr/>
        <p:nvPr/>
      </p:nvGrpSpPr>
      <p:grpSpPr>
        <a:xfrm>
          <a:off x="0" y="0"/>
          <a:ext cx="0" cy="0"/>
          <a:chOff x="0" y="0"/>
          <a:chExt cx="0" cy="0"/>
        </a:xfrm>
      </p:grpSpPr>
      <p:sp>
        <p:nvSpPr>
          <p:cNvPr id="149" name="Google Shape;149;p18"/>
          <p:cNvSpPr txBox="1"/>
          <p:nvPr/>
        </p:nvSpPr>
        <p:spPr>
          <a:xfrm>
            <a:off x="530352" y="310896"/>
            <a:ext cx="10972800" cy="477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F5F7FA"/>
                </a:solidFill>
                <a:latin typeface="Arial"/>
                <a:ea typeface="Arial"/>
                <a:cs typeface="Arial"/>
                <a:sym typeface="Arial"/>
              </a:rPr>
              <a:t>4. Feature Engineering &amp; Temporal Design</a:t>
            </a:r>
            <a:endParaRPr b="0" i="0" sz="1900" u="none" cap="none" strike="noStrike">
              <a:solidFill>
                <a:srgbClr val="000000"/>
              </a:solidFill>
              <a:latin typeface="Arial"/>
              <a:ea typeface="Arial"/>
              <a:cs typeface="Arial"/>
              <a:sym typeface="Arial"/>
            </a:endParaRPr>
          </a:p>
        </p:txBody>
      </p:sp>
      <p:sp>
        <p:nvSpPr>
          <p:cNvPr id="150" name="Google Shape;150;p18"/>
          <p:cNvSpPr txBox="1"/>
          <p:nvPr/>
        </p:nvSpPr>
        <p:spPr>
          <a:xfrm>
            <a:off x="548640" y="768096"/>
            <a:ext cx="10698600" cy="3231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A9B6C4"/>
                </a:solidFill>
                <a:latin typeface="Arial"/>
                <a:ea typeface="Arial"/>
                <a:cs typeface="Arial"/>
                <a:sym typeface="Arial"/>
              </a:rPr>
              <a:t>Eight predictors were retained after redundancy and leakage checks.</a:t>
            </a:r>
            <a:endParaRPr b="0" i="0" sz="1500" u="none" cap="none" strike="noStrike">
              <a:solidFill>
                <a:srgbClr val="000000"/>
              </a:solidFill>
              <a:latin typeface="Arial"/>
              <a:ea typeface="Arial"/>
              <a:cs typeface="Arial"/>
              <a:sym typeface="Arial"/>
            </a:endParaRPr>
          </a:p>
        </p:txBody>
      </p:sp>
      <p:sp>
        <p:nvSpPr>
          <p:cNvPr id="151" name="Google Shape;151;p18"/>
          <p:cNvSpPr txBox="1"/>
          <p:nvPr/>
        </p:nvSpPr>
        <p:spPr>
          <a:xfrm>
            <a:off x="566928" y="1261872"/>
            <a:ext cx="4389000" cy="3387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E89E34"/>
                </a:solidFill>
                <a:latin typeface="Arial"/>
                <a:ea typeface="Arial"/>
                <a:cs typeface="Arial"/>
                <a:sym typeface="Arial"/>
              </a:rPr>
              <a:t>FROM RAW DATA TO MODEL FEATURES</a:t>
            </a:r>
            <a:endParaRPr b="0" i="0" sz="1600" u="none" cap="none" strike="noStrike">
              <a:solidFill>
                <a:srgbClr val="000000"/>
              </a:solidFill>
              <a:latin typeface="Arial"/>
              <a:ea typeface="Arial"/>
              <a:cs typeface="Arial"/>
              <a:sym typeface="Arial"/>
            </a:endParaRPr>
          </a:p>
        </p:txBody>
      </p:sp>
      <p:sp>
        <p:nvSpPr>
          <p:cNvPr id="152" name="Google Shape;152;p18"/>
          <p:cNvSpPr txBox="1"/>
          <p:nvPr/>
        </p:nvSpPr>
        <p:spPr>
          <a:xfrm>
            <a:off x="621792" y="1664208"/>
            <a:ext cx="1828800" cy="300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F5F7FA"/>
                </a:solidFill>
                <a:latin typeface="Arial"/>
                <a:ea typeface="Arial"/>
                <a:cs typeface="Arial"/>
                <a:sym typeface="Arial"/>
              </a:rPr>
              <a:t>Date</a:t>
            </a:r>
            <a:endParaRPr b="0" i="0" sz="1600" u="none" cap="none" strike="noStrike">
              <a:solidFill>
                <a:srgbClr val="000000"/>
              </a:solidFill>
              <a:latin typeface="Arial"/>
              <a:ea typeface="Arial"/>
              <a:cs typeface="Arial"/>
              <a:sym typeface="Arial"/>
            </a:endParaRPr>
          </a:p>
        </p:txBody>
      </p:sp>
      <p:sp>
        <p:nvSpPr>
          <p:cNvPr id="153" name="Google Shape;153;p18"/>
          <p:cNvSpPr txBox="1"/>
          <p:nvPr/>
        </p:nvSpPr>
        <p:spPr>
          <a:xfrm>
            <a:off x="2487168" y="1664208"/>
            <a:ext cx="320100" cy="3231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6D9EEB"/>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54" name="Google Shape;154;p18"/>
          <p:cNvSpPr txBox="1"/>
          <p:nvPr/>
        </p:nvSpPr>
        <p:spPr>
          <a:xfrm>
            <a:off x="2880360" y="1664208"/>
            <a:ext cx="2240400" cy="2877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70"/>
              <a:buFont typeface="Arial"/>
              <a:buNone/>
            </a:pPr>
            <a:r>
              <a:rPr b="0" i="0" lang="en-US" sz="1270" u="none" cap="none" strike="noStrike">
                <a:solidFill>
                  <a:srgbClr val="A9B6C4"/>
                </a:solidFill>
                <a:latin typeface="Arial"/>
                <a:ea typeface="Arial"/>
                <a:cs typeface="Arial"/>
                <a:sym typeface="Arial"/>
              </a:rPr>
              <a:t>Day of Week  •  Day of Year</a:t>
            </a:r>
            <a:endParaRPr b="0" i="0" sz="1600" u="none" cap="none" strike="noStrike">
              <a:solidFill>
                <a:srgbClr val="000000"/>
              </a:solidFill>
              <a:latin typeface="Arial"/>
              <a:ea typeface="Arial"/>
              <a:cs typeface="Arial"/>
              <a:sym typeface="Arial"/>
            </a:endParaRPr>
          </a:p>
        </p:txBody>
      </p:sp>
      <p:sp>
        <p:nvSpPr>
          <p:cNvPr id="155" name="Google Shape;155;p18"/>
          <p:cNvSpPr txBox="1"/>
          <p:nvPr/>
        </p:nvSpPr>
        <p:spPr>
          <a:xfrm>
            <a:off x="621792" y="2231136"/>
            <a:ext cx="1828800" cy="300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F5F7FA"/>
                </a:solidFill>
                <a:latin typeface="Arial"/>
                <a:ea typeface="Arial"/>
                <a:cs typeface="Arial"/>
                <a:sym typeface="Arial"/>
              </a:rPr>
              <a:t>Station location</a:t>
            </a:r>
            <a:endParaRPr b="0" i="0" sz="1600" u="none" cap="none" strike="noStrike">
              <a:solidFill>
                <a:srgbClr val="000000"/>
              </a:solidFill>
              <a:latin typeface="Arial"/>
              <a:ea typeface="Arial"/>
              <a:cs typeface="Arial"/>
              <a:sym typeface="Arial"/>
            </a:endParaRPr>
          </a:p>
        </p:txBody>
      </p:sp>
      <p:sp>
        <p:nvSpPr>
          <p:cNvPr id="156" name="Google Shape;156;p18"/>
          <p:cNvSpPr txBox="1"/>
          <p:nvPr/>
        </p:nvSpPr>
        <p:spPr>
          <a:xfrm>
            <a:off x="2487168" y="2231136"/>
            <a:ext cx="320100" cy="3231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6D9EEB"/>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57" name="Google Shape;157;p18"/>
          <p:cNvSpPr txBox="1"/>
          <p:nvPr/>
        </p:nvSpPr>
        <p:spPr>
          <a:xfrm>
            <a:off x="2880360" y="2231136"/>
            <a:ext cx="2240400" cy="483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70"/>
              <a:buFont typeface="Arial"/>
              <a:buNone/>
            </a:pPr>
            <a:r>
              <a:rPr b="0" i="0" lang="en-US" sz="1270" u="none" cap="none" strike="noStrike">
                <a:solidFill>
                  <a:srgbClr val="A9B6C4"/>
                </a:solidFill>
                <a:latin typeface="Arial"/>
                <a:ea typeface="Arial"/>
                <a:cs typeface="Arial"/>
                <a:sym typeface="Arial"/>
              </a:rPr>
              <a:t>Latitude  •  Longitude  •  Is Highway</a:t>
            </a:r>
            <a:endParaRPr b="0" i="0" sz="1600" u="none" cap="none" strike="noStrike">
              <a:solidFill>
                <a:srgbClr val="000000"/>
              </a:solidFill>
              <a:latin typeface="Arial"/>
              <a:ea typeface="Arial"/>
              <a:cs typeface="Arial"/>
              <a:sym typeface="Arial"/>
            </a:endParaRPr>
          </a:p>
        </p:txBody>
      </p:sp>
      <p:sp>
        <p:nvSpPr>
          <p:cNvPr id="158" name="Google Shape;158;p18"/>
          <p:cNvSpPr txBox="1"/>
          <p:nvPr/>
        </p:nvSpPr>
        <p:spPr>
          <a:xfrm>
            <a:off x="621792" y="2798064"/>
            <a:ext cx="1828800" cy="300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F5F7FA"/>
                </a:solidFill>
                <a:latin typeface="Arial"/>
                <a:ea typeface="Arial"/>
                <a:cs typeface="Arial"/>
                <a:sym typeface="Arial"/>
              </a:rPr>
              <a:t>Station services</a:t>
            </a:r>
            <a:endParaRPr b="0" i="0" sz="1600" u="none" cap="none" strike="noStrike">
              <a:solidFill>
                <a:srgbClr val="000000"/>
              </a:solidFill>
              <a:latin typeface="Arial"/>
              <a:ea typeface="Arial"/>
              <a:cs typeface="Arial"/>
              <a:sym typeface="Arial"/>
            </a:endParaRPr>
          </a:p>
        </p:txBody>
      </p:sp>
      <p:sp>
        <p:nvSpPr>
          <p:cNvPr id="159" name="Google Shape;159;p18"/>
          <p:cNvSpPr txBox="1"/>
          <p:nvPr/>
        </p:nvSpPr>
        <p:spPr>
          <a:xfrm>
            <a:off x="2487168" y="2798064"/>
            <a:ext cx="320100" cy="3231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6D9EEB"/>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60" name="Google Shape;160;p18"/>
          <p:cNvSpPr txBox="1"/>
          <p:nvPr/>
        </p:nvSpPr>
        <p:spPr>
          <a:xfrm>
            <a:off x="2880360" y="2798064"/>
            <a:ext cx="2240400" cy="2877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70"/>
              <a:buFont typeface="Arial"/>
              <a:buNone/>
            </a:pPr>
            <a:r>
              <a:rPr b="0" i="0" lang="en-US" sz="1270" u="none" cap="none" strike="noStrike">
                <a:solidFill>
                  <a:srgbClr val="A9B6C4"/>
                </a:solidFill>
                <a:latin typeface="Arial"/>
                <a:ea typeface="Arial"/>
                <a:cs typeface="Arial"/>
                <a:sym typeface="Arial"/>
              </a:rPr>
              <a:t>24/7 Payment Terminal</a:t>
            </a:r>
            <a:endParaRPr b="0" i="0" sz="1600" u="none" cap="none" strike="noStrike">
              <a:solidFill>
                <a:srgbClr val="000000"/>
              </a:solidFill>
              <a:latin typeface="Arial"/>
              <a:ea typeface="Arial"/>
              <a:cs typeface="Arial"/>
              <a:sym typeface="Arial"/>
            </a:endParaRPr>
          </a:p>
        </p:txBody>
      </p:sp>
      <p:sp>
        <p:nvSpPr>
          <p:cNvPr id="161" name="Google Shape;161;p18"/>
          <p:cNvSpPr txBox="1"/>
          <p:nvPr/>
        </p:nvSpPr>
        <p:spPr>
          <a:xfrm>
            <a:off x="621792" y="3364992"/>
            <a:ext cx="1828800" cy="300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F5F7FA"/>
                </a:solidFill>
                <a:latin typeface="Arial"/>
                <a:ea typeface="Arial"/>
                <a:cs typeface="Arial"/>
                <a:sym typeface="Arial"/>
              </a:rPr>
              <a:t>Brent Price</a:t>
            </a:r>
            <a:endParaRPr b="0" i="0" sz="1600" u="none" cap="none" strike="noStrike">
              <a:solidFill>
                <a:srgbClr val="000000"/>
              </a:solidFill>
              <a:latin typeface="Arial"/>
              <a:ea typeface="Arial"/>
              <a:cs typeface="Arial"/>
              <a:sym typeface="Arial"/>
            </a:endParaRPr>
          </a:p>
        </p:txBody>
      </p:sp>
      <p:sp>
        <p:nvSpPr>
          <p:cNvPr id="162" name="Google Shape;162;p18"/>
          <p:cNvSpPr txBox="1"/>
          <p:nvPr/>
        </p:nvSpPr>
        <p:spPr>
          <a:xfrm>
            <a:off x="2487168" y="3364992"/>
            <a:ext cx="320100" cy="3231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6D9EEB"/>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63" name="Google Shape;163;p18"/>
          <p:cNvSpPr txBox="1"/>
          <p:nvPr/>
        </p:nvSpPr>
        <p:spPr>
          <a:xfrm>
            <a:off x="2880360" y="3364992"/>
            <a:ext cx="2240400" cy="2877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70"/>
              <a:buFont typeface="Arial"/>
              <a:buNone/>
            </a:pPr>
            <a:r>
              <a:rPr b="0" i="0" lang="en-US" sz="1270" u="none" cap="none" strike="noStrike">
                <a:solidFill>
                  <a:srgbClr val="A9B6C4"/>
                </a:solidFill>
                <a:latin typeface="Arial"/>
                <a:ea typeface="Arial"/>
                <a:cs typeface="Arial"/>
                <a:sym typeface="Arial"/>
              </a:rPr>
              <a:t>Brent Lag 1</a:t>
            </a:r>
            <a:endParaRPr b="0" i="0" sz="1600" u="none" cap="none" strike="noStrike">
              <a:solidFill>
                <a:srgbClr val="000000"/>
              </a:solidFill>
              <a:latin typeface="Arial"/>
              <a:ea typeface="Arial"/>
              <a:cs typeface="Arial"/>
              <a:sym typeface="Arial"/>
            </a:endParaRPr>
          </a:p>
        </p:txBody>
      </p:sp>
      <p:sp>
        <p:nvSpPr>
          <p:cNvPr id="164" name="Google Shape;164;p18"/>
          <p:cNvSpPr txBox="1"/>
          <p:nvPr/>
        </p:nvSpPr>
        <p:spPr>
          <a:xfrm>
            <a:off x="621792" y="3931920"/>
            <a:ext cx="1828800" cy="300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F5F7FA"/>
                </a:solidFill>
                <a:latin typeface="Arial"/>
                <a:ea typeface="Arial"/>
                <a:cs typeface="Arial"/>
                <a:sym typeface="Arial"/>
              </a:rPr>
              <a:t>GPR</a:t>
            </a:r>
            <a:endParaRPr b="0" i="0" sz="1600" u="none" cap="none" strike="noStrike">
              <a:solidFill>
                <a:srgbClr val="000000"/>
              </a:solidFill>
              <a:latin typeface="Arial"/>
              <a:ea typeface="Arial"/>
              <a:cs typeface="Arial"/>
              <a:sym typeface="Arial"/>
            </a:endParaRPr>
          </a:p>
        </p:txBody>
      </p:sp>
      <p:sp>
        <p:nvSpPr>
          <p:cNvPr id="165" name="Google Shape;165;p18"/>
          <p:cNvSpPr txBox="1"/>
          <p:nvPr/>
        </p:nvSpPr>
        <p:spPr>
          <a:xfrm>
            <a:off x="2487168" y="3931920"/>
            <a:ext cx="320100" cy="3231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6D9EEB"/>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66" name="Google Shape;166;p18"/>
          <p:cNvSpPr txBox="1"/>
          <p:nvPr/>
        </p:nvSpPr>
        <p:spPr>
          <a:xfrm>
            <a:off x="2880360" y="3931920"/>
            <a:ext cx="2240400" cy="2877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70"/>
              <a:buFont typeface="Arial"/>
              <a:buNone/>
            </a:pPr>
            <a:r>
              <a:rPr b="0" i="0" lang="en-US" sz="1270" u="none" cap="none" strike="noStrike">
                <a:solidFill>
                  <a:srgbClr val="A9B6C4"/>
                </a:solidFill>
                <a:latin typeface="Arial"/>
                <a:ea typeface="Arial"/>
                <a:cs typeface="Arial"/>
                <a:sym typeface="Arial"/>
              </a:rPr>
              <a:t>GPR Lag 1</a:t>
            </a:r>
            <a:endParaRPr b="0" i="0" sz="1600" u="none" cap="none" strike="noStrike">
              <a:solidFill>
                <a:srgbClr val="000000"/>
              </a:solidFill>
              <a:latin typeface="Arial"/>
              <a:ea typeface="Arial"/>
              <a:cs typeface="Arial"/>
              <a:sym typeface="Arial"/>
            </a:endParaRPr>
          </a:p>
        </p:txBody>
      </p:sp>
      <p:sp>
        <p:nvSpPr>
          <p:cNvPr id="167" name="Google Shape;167;p18"/>
          <p:cNvSpPr/>
          <p:nvPr/>
        </p:nvSpPr>
        <p:spPr>
          <a:xfrm>
            <a:off x="566928" y="4590288"/>
            <a:ext cx="4526400" cy="932700"/>
          </a:xfrm>
          <a:prstGeom prst="roundRect">
            <a:avLst>
              <a:gd fmla="val 16667" name="adj"/>
            </a:avLst>
          </a:prstGeom>
          <a:solidFill>
            <a:srgbClr val="1B2A3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8" name="Google Shape;168;p18"/>
          <p:cNvSpPr txBox="1"/>
          <p:nvPr/>
        </p:nvSpPr>
        <p:spPr>
          <a:xfrm>
            <a:off x="731520" y="4681728"/>
            <a:ext cx="1234500" cy="2337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918"/>
              <a:buFont typeface="Arial"/>
              <a:buNone/>
            </a:pPr>
            <a:r>
              <a:rPr b="1" i="0" lang="en-US" sz="919" u="none" cap="none" strike="noStrike">
                <a:solidFill>
                  <a:srgbClr val="E89E34"/>
                </a:solidFill>
                <a:latin typeface="Arial"/>
                <a:ea typeface="Arial"/>
                <a:cs typeface="Arial"/>
                <a:sym typeface="Arial"/>
              </a:rPr>
              <a:t>KEY DECISIONS</a:t>
            </a:r>
            <a:endParaRPr b="0" i="0" sz="1400" u="none" cap="none" strike="noStrike">
              <a:solidFill>
                <a:srgbClr val="000000"/>
              </a:solidFill>
              <a:latin typeface="Arial"/>
              <a:ea typeface="Arial"/>
              <a:cs typeface="Arial"/>
              <a:sym typeface="Arial"/>
            </a:endParaRPr>
          </a:p>
        </p:txBody>
      </p:sp>
      <p:sp>
        <p:nvSpPr>
          <p:cNvPr id="169" name="Google Shape;169;p18"/>
          <p:cNvSpPr txBox="1"/>
          <p:nvPr/>
        </p:nvSpPr>
        <p:spPr>
          <a:xfrm>
            <a:off x="731520" y="4956048"/>
            <a:ext cx="4160400" cy="5727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40"/>
              <a:buFont typeface="Arial"/>
              <a:buNone/>
            </a:pPr>
            <a:r>
              <a:rPr b="0" i="0" lang="en-US" sz="1040" u="none" cap="none" strike="noStrike">
                <a:solidFill>
                  <a:srgbClr val="F5F7FA"/>
                </a:solidFill>
                <a:latin typeface="Arial"/>
                <a:ea typeface="Arial"/>
                <a:cs typeface="Arial"/>
                <a:sym typeface="Arial"/>
              </a:rPr>
              <a:t>Month and Week removed for redundancy.</a:t>
            </a:r>
            <a:br>
              <a:rPr b="0" i="0" lang="en-US" sz="1040" u="none" cap="none" strike="noStrike">
                <a:solidFill>
                  <a:srgbClr val="F5F7FA"/>
                </a:solidFill>
                <a:latin typeface="Arial"/>
                <a:ea typeface="Arial"/>
                <a:cs typeface="Arial"/>
                <a:sym typeface="Arial"/>
              </a:rPr>
            </a:br>
            <a:r>
              <a:rPr b="0" i="0" lang="en-US" sz="1040" u="none" cap="none" strike="noStrike">
                <a:solidFill>
                  <a:srgbClr val="F5F7FA"/>
                </a:solidFill>
                <a:latin typeface="Arial"/>
                <a:ea typeface="Arial"/>
                <a:cs typeface="Arial"/>
                <a:sym typeface="Arial"/>
              </a:rPr>
              <a:t>Brent and GPR shifted by one day to limit future information leakage.</a:t>
            </a:r>
            <a:endParaRPr b="0" i="0" sz="1400" u="none" cap="none" strike="noStrike">
              <a:solidFill>
                <a:srgbClr val="000000"/>
              </a:solidFill>
              <a:latin typeface="Arial"/>
              <a:ea typeface="Arial"/>
              <a:cs typeface="Arial"/>
              <a:sym typeface="Arial"/>
            </a:endParaRPr>
          </a:p>
        </p:txBody>
      </p:sp>
      <p:pic>
        <p:nvPicPr>
          <p:cNvPr descr="Capture d'écran 2026-09-18 114708.png" id="170" name="Google Shape;170;p18"/>
          <p:cNvPicPr preferRelativeResize="0"/>
          <p:nvPr/>
        </p:nvPicPr>
        <p:blipFill rotWithShape="1">
          <a:blip r:embed="rId3">
            <a:alphaModFix/>
          </a:blip>
          <a:srcRect b="0" l="0" r="0" t="0"/>
          <a:stretch/>
        </p:blipFill>
        <p:spPr>
          <a:xfrm>
            <a:off x="5530882" y="1210125"/>
            <a:ext cx="6363482" cy="5239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9"/>
          <p:cNvSpPr/>
          <p:nvPr/>
        </p:nvSpPr>
        <p:spPr>
          <a:xfrm>
            <a:off x="0" y="19821"/>
            <a:ext cx="12191700" cy="6858000"/>
          </a:xfrm>
          <a:prstGeom prst="rect">
            <a:avLst/>
          </a:prstGeom>
          <a:solidFill>
            <a:srgbClr val="0F1B2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9"/>
          <p:cNvSpPr txBox="1"/>
          <p:nvPr/>
        </p:nvSpPr>
        <p:spPr>
          <a:xfrm>
            <a:off x="566928" y="384048"/>
            <a:ext cx="10698600" cy="477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F5F7FA"/>
                </a:solidFill>
                <a:latin typeface="Arial"/>
                <a:ea typeface="Arial"/>
                <a:cs typeface="Arial"/>
                <a:sym typeface="Arial"/>
              </a:rPr>
              <a:t>5. Modeling Strategy &amp; Validation</a:t>
            </a:r>
            <a:endParaRPr b="0" i="0" sz="1900" u="none" cap="none" strike="noStrike">
              <a:solidFill>
                <a:srgbClr val="000000"/>
              </a:solidFill>
              <a:latin typeface="Arial"/>
              <a:ea typeface="Arial"/>
              <a:cs typeface="Arial"/>
              <a:sym typeface="Arial"/>
            </a:endParaRPr>
          </a:p>
        </p:txBody>
      </p:sp>
      <p:sp>
        <p:nvSpPr>
          <p:cNvPr id="177" name="Google Shape;177;p19"/>
          <p:cNvSpPr txBox="1"/>
          <p:nvPr/>
        </p:nvSpPr>
        <p:spPr>
          <a:xfrm>
            <a:off x="566928" y="749808"/>
            <a:ext cx="10698600" cy="300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A9B6C4"/>
                </a:solidFill>
                <a:latin typeface="Arial"/>
                <a:ea typeface="Arial"/>
                <a:cs typeface="Arial"/>
                <a:sym typeface="Arial"/>
              </a:rPr>
              <a:t>A chronological split was used instead of a random split.</a:t>
            </a:r>
            <a:endParaRPr b="0" i="0" sz="1800" u="none" cap="none" strike="noStrike">
              <a:solidFill>
                <a:srgbClr val="000000"/>
              </a:solidFill>
              <a:latin typeface="Arial"/>
              <a:ea typeface="Arial"/>
              <a:cs typeface="Arial"/>
              <a:sym typeface="Arial"/>
            </a:endParaRPr>
          </a:p>
        </p:txBody>
      </p:sp>
      <p:sp>
        <p:nvSpPr>
          <p:cNvPr id="178" name="Google Shape;178;p19"/>
          <p:cNvSpPr txBox="1"/>
          <p:nvPr/>
        </p:nvSpPr>
        <p:spPr>
          <a:xfrm>
            <a:off x="339597" y="1325880"/>
            <a:ext cx="2377500" cy="3078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6D9EEB"/>
                </a:solidFill>
                <a:latin typeface="Arial"/>
                <a:ea typeface="Arial"/>
                <a:cs typeface="Arial"/>
                <a:sym typeface="Arial"/>
              </a:rPr>
              <a:t>JAN TO SEP</a:t>
            </a:r>
            <a:endParaRPr b="0" i="0" sz="1700" u="none" cap="none" strike="noStrike">
              <a:solidFill>
                <a:srgbClr val="000000"/>
              </a:solidFill>
              <a:latin typeface="Arial"/>
              <a:ea typeface="Arial"/>
              <a:cs typeface="Arial"/>
              <a:sym typeface="Arial"/>
            </a:endParaRPr>
          </a:p>
        </p:txBody>
      </p:sp>
      <p:sp>
        <p:nvSpPr>
          <p:cNvPr id="179" name="Google Shape;179;p19"/>
          <p:cNvSpPr txBox="1"/>
          <p:nvPr/>
        </p:nvSpPr>
        <p:spPr>
          <a:xfrm>
            <a:off x="4709160" y="1325880"/>
            <a:ext cx="1554600" cy="3078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E89E34"/>
                </a:solidFill>
                <a:latin typeface="Arial"/>
                <a:ea typeface="Arial"/>
                <a:cs typeface="Arial"/>
                <a:sym typeface="Arial"/>
              </a:rPr>
              <a:t>OCT</a:t>
            </a:r>
            <a:endParaRPr b="0" i="0" sz="1700" u="none" cap="none" strike="noStrike">
              <a:solidFill>
                <a:srgbClr val="000000"/>
              </a:solidFill>
              <a:latin typeface="Arial"/>
              <a:ea typeface="Arial"/>
              <a:cs typeface="Arial"/>
              <a:sym typeface="Arial"/>
            </a:endParaRPr>
          </a:p>
        </p:txBody>
      </p:sp>
      <p:sp>
        <p:nvSpPr>
          <p:cNvPr id="180" name="Google Shape;180;p19"/>
          <p:cNvSpPr txBox="1"/>
          <p:nvPr/>
        </p:nvSpPr>
        <p:spPr>
          <a:xfrm>
            <a:off x="7726679" y="1325880"/>
            <a:ext cx="2560200" cy="3078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458B68"/>
                </a:solidFill>
                <a:latin typeface="Arial"/>
                <a:ea typeface="Arial"/>
                <a:cs typeface="Arial"/>
                <a:sym typeface="Arial"/>
              </a:rPr>
              <a:t>NOV TO DEC</a:t>
            </a:r>
            <a:endParaRPr b="0" i="0" sz="1700" u="none" cap="none" strike="noStrike">
              <a:solidFill>
                <a:srgbClr val="000000"/>
              </a:solidFill>
              <a:latin typeface="Arial"/>
              <a:ea typeface="Arial"/>
              <a:cs typeface="Arial"/>
              <a:sym typeface="Arial"/>
            </a:endParaRPr>
          </a:p>
        </p:txBody>
      </p:sp>
      <p:sp>
        <p:nvSpPr>
          <p:cNvPr id="181" name="Google Shape;181;p19"/>
          <p:cNvSpPr/>
          <p:nvPr/>
        </p:nvSpPr>
        <p:spPr>
          <a:xfrm>
            <a:off x="1234440" y="1901952"/>
            <a:ext cx="8778300" cy="32100"/>
          </a:xfrm>
          <a:prstGeom prst="rect">
            <a:avLst/>
          </a:prstGeom>
          <a:solidFill>
            <a:srgbClr val="A9B6C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9"/>
          <p:cNvSpPr/>
          <p:nvPr/>
        </p:nvSpPr>
        <p:spPr>
          <a:xfrm>
            <a:off x="1161288" y="1819656"/>
            <a:ext cx="164700" cy="164700"/>
          </a:xfrm>
          <a:prstGeom prst="ellipse">
            <a:avLst/>
          </a:prstGeom>
          <a:solidFill>
            <a:srgbClr val="6D9EE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9"/>
          <p:cNvSpPr/>
          <p:nvPr/>
        </p:nvSpPr>
        <p:spPr>
          <a:xfrm>
            <a:off x="5367528" y="1819656"/>
            <a:ext cx="164700" cy="164700"/>
          </a:xfrm>
          <a:prstGeom prst="ellipse">
            <a:avLst/>
          </a:prstGeom>
          <a:solidFill>
            <a:srgbClr val="E89E3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9"/>
          <p:cNvSpPr/>
          <p:nvPr/>
        </p:nvSpPr>
        <p:spPr>
          <a:xfrm>
            <a:off x="9939528" y="1819656"/>
            <a:ext cx="164700" cy="164700"/>
          </a:xfrm>
          <a:prstGeom prst="ellipse">
            <a:avLst/>
          </a:prstGeom>
          <a:solidFill>
            <a:srgbClr val="458B6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9"/>
          <p:cNvSpPr txBox="1"/>
          <p:nvPr/>
        </p:nvSpPr>
        <p:spPr>
          <a:xfrm>
            <a:off x="914400" y="2148840"/>
            <a:ext cx="2377500" cy="5388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50"/>
              <a:buFont typeface="Arial"/>
              <a:buNone/>
            </a:pPr>
            <a:r>
              <a:rPr b="1" i="0" lang="en-US" sz="1450" u="none" cap="none" strike="noStrike">
                <a:solidFill>
                  <a:srgbClr val="F5F7FA"/>
                </a:solidFill>
                <a:latin typeface="Arial"/>
                <a:ea typeface="Arial"/>
                <a:cs typeface="Arial"/>
                <a:sym typeface="Arial"/>
              </a:rPr>
              <a:t>Development</a:t>
            </a:r>
            <a:br>
              <a:rPr b="1" i="0" lang="en-US" sz="1450" u="none" cap="none" strike="noStrike">
                <a:solidFill>
                  <a:srgbClr val="F5F7FA"/>
                </a:solidFill>
                <a:latin typeface="Arial"/>
                <a:ea typeface="Arial"/>
                <a:cs typeface="Arial"/>
                <a:sym typeface="Arial"/>
              </a:rPr>
            </a:br>
            <a:r>
              <a:rPr b="1" i="0" lang="en-US" sz="1450" u="none" cap="none" strike="noStrike">
                <a:solidFill>
                  <a:srgbClr val="F5F7FA"/>
                </a:solidFill>
                <a:latin typeface="Arial"/>
                <a:ea typeface="Arial"/>
                <a:cs typeface="Arial"/>
                <a:sym typeface="Arial"/>
              </a:rPr>
              <a:t>Train</a:t>
            </a:r>
            <a:endParaRPr b="0" i="0" sz="1600" u="none" cap="none" strike="noStrike">
              <a:solidFill>
                <a:srgbClr val="000000"/>
              </a:solidFill>
              <a:latin typeface="Arial"/>
              <a:ea typeface="Arial"/>
              <a:cs typeface="Arial"/>
              <a:sym typeface="Arial"/>
            </a:endParaRPr>
          </a:p>
        </p:txBody>
      </p:sp>
      <p:sp>
        <p:nvSpPr>
          <p:cNvPr id="186" name="Google Shape;186;p19"/>
          <p:cNvSpPr txBox="1"/>
          <p:nvPr/>
        </p:nvSpPr>
        <p:spPr>
          <a:xfrm>
            <a:off x="4389120" y="2148840"/>
            <a:ext cx="2103000" cy="5388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50"/>
              <a:buFont typeface="Arial"/>
              <a:buNone/>
            </a:pPr>
            <a:r>
              <a:rPr b="1" i="0" lang="en-US" sz="1450" u="none" cap="none" strike="noStrike">
                <a:solidFill>
                  <a:srgbClr val="F5F7FA"/>
                </a:solidFill>
                <a:latin typeface="Arial"/>
                <a:ea typeface="Arial"/>
                <a:cs typeface="Arial"/>
                <a:sym typeface="Arial"/>
              </a:rPr>
              <a:t>Validation</a:t>
            </a:r>
            <a:br>
              <a:rPr b="1" i="0" lang="en-US" sz="1450" u="none" cap="none" strike="noStrike">
                <a:solidFill>
                  <a:srgbClr val="F5F7FA"/>
                </a:solidFill>
                <a:latin typeface="Arial"/>
                <a:ea typeface="Arial"/>
                <a:cs typeface="Arial"/>
                <a:sym typeface="Arial"/>
              </a:rPr>
            </a:br>
            <a:r>
              <a:rPr b="1" i="0" lang="en-US" sz="1450" u="none" cap="none" strike="noStrike">
                <a:solidFill>
                  <a:srgbClr val="F5F7FA"/>
                </a:solidFill>
                <a:latin typeface="Arial"/>
                <a:ea typeface="Arial"/>
                <a:cs typeface="Arial"/>
                <a:sym typeface="Arial"/>
              </a:rPr>
              <a:t>Tune and select</a:t>
            </a:r>
            <a:endParaRPr b="0" i="0" sz="1600" u="none" cap="none" strike="noStrike">
              <a:solidFill>
                <a:srgbClr val="000000"/>
              </a:solidFill>
              <a:latin typeface="Arial"/>
              <a:ea typeface="Arial"/>
              <a:cs typeface="Arial"/>
              <a:sym typeface="Arial"/>
            </a:endParaRPr>
          </a:p>
        </p:txBody>
      </p:sp>
      <p:sp>
        <p:nvSpPr>
          <p:cNvPr id="187" name="Google Shape;187;p19"/>
          <p:cNvSpPr txBox="1"/>
          <p:nvPr/>
        </p:nvSpPr>
        <p:spPr>
          <a:xfrm>
            <a:off x="7726679" y="2148840"/>
            <a:ext cx="2560200" cy="5388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50"/>
              <a:buFont typeface="Arial"/>
              <a:buNone/>
            </a:pPr>
            <a:r>
              <a:rPr b="1" i="0" lang="en-US" sz="1450" u="none" cap="none" strike="noStrike">
                <a:solidFill>
                  <a:srgbClr val="F5F7FA"/>
                </a:solidFill>
                <a:latin typeface="Arial"/>
                <a:ea typeface="Arial"/>
                <a:cs typeface="Arial"/>
                <a:sym typeface="Arial"/>
              </a:rPr>
              <a:t>Final test</a:t>
            </a:r>
            <a:br>
              <a:rPr b="1" i="0" lang="en-US" sz="1450" u="none" cap="none" strike="noStrike">
                <a:solidFill>
                  <a:srgbClr val="F5F7FA"/>
                </a:solidFill>
                <a:latin typeface="Arial"/>
                <a:ea typeface="Arial"/>
                <a:cs typeface="Arial"/>
                <a:sym typeface="Arial"/>
              </a:rPr>
            </a:br>
            <a:r>
              <a:rPr b="1" i="0" lang="en-US" sz="1450" u="none" cap="none" strike="noStrike">
                <a:solidFill>
                  <a:srgbClr val="F5F7FA"/>
                </a:solidFill>
                <a:latin typeface="Arial"/>
                <a:ea typeface="Arial"/>
                <a:cs typeface="Arial"/>
                <a:sym typeface="Arial"/>
              </a:rPr>
              <a:t>Unseen future</a:t>
            </a:r>
            <a:endParaRPr b="0" i="0" sz="1600" u="none" cap="none" strike="noStrike">
              <a:solidFill>
                <a:srgbClr val="000000"/>
              </a:solidFill>
              <a:latin typeface="Arial"/>
              <a:ea typeface="Arial"/>
              <a:cs typeface="Arial"/>
              <a:sym typeface="Arial"/>
            </a:endParaRPr>
          </a:p>
        </p:txBody>
      </p:sp>
      <p:sp>
        <p:nvSpPr>
          <p:cNvPr id="188" name="Google Shape;188;p19"/>
          <p:cNvSpPr txBox="1"/>
          <p:nvPr/>
        </p:nvSpPr>
        <p:spPr>
          <a:xfrm>
            <a:off x="777240" y="3293426"/>
            <a:ext cx="1920300" cy="2847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E89E34"/>
                </a:solidFill>
                <a:latin typeface="Arial"/>
                <a:ea typeface="Arial"/>
                <a:cs typeface="Arial"/>
                <a:sym typeface="Arial"/>
              </a:rPr>
              <a:t>WHY NOT RANDOM?</a:t>
            </a:r>
            <a:endParaRPr b="0" i="0" sz="1700" u="none" cap="none" strike="noStrike">
              <a:solidFill>
                <a:srgbClr val="000000"/>
              </a:solidFill>
              <a:latin typeface="Arial"/>
              <a:ea typeface="Arial"/>
              <a:cs typeface="Arial"/>
              <a:sym typeface="Arial"/>
            </a:endParaRPr>
          </a:p>
        </p:txBody>
      </p:sp>
      <p:sp>
        <p:nvSpPr>
          <p:cNvPr id="189" name="Google Shape;189;p19"/>
          <p:cNvSpPr txBox="1"/>
          <p:nvPr/>
        </p:nvSpPr>
        <p:spPr>
          <a:xfrm>
            <a:off x="777240" y="3614998"/>
            <a:ext cx="4892100" cy="762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50"/>
              <a:buFont typeface="Arial"/>
              <a:buNone/>
            </a:pPr>
            <a:r>
              <a:rPr b="0" i="0" lang="en-US" sz="1450" u="none" cap="none" strike="noStrike">
                <a:solidFill>
                  <a:srgbClr val="A9B6C4"/>
                </a:solidFill>
                <a:latin typeface="Arial"/>
                <a:ea typeface="Arial"/>
                <a:cs typeface="Arial"/>
                <a:sym typeface="Arial"/>
              </a:rPr>
              <a:t>Fuel prices evolve over time. A random split could let the model learn from future observations while predicting the past.</a:t>
            </a:r>
            <a:endParaRPr b="0" i="0" sz="1700" u="none" cap="none" strike="noStrike">
              <a:solidFill>
                <a:srgbClr val="000000"/>
              </a:solidFill>
              <a:latin typeface="Arial"/>
              <a:ea typeface="Arial"/>
              <a:cs typeface="Arial"/>
              <a:sym typeface="Arial"/>
            </a:endParaRPr>
          </a:p>
        </p:txBody>
      </p:sp>
      <p:sp>
        <p:nvSpPr>
          <p:cNvPr id="190" name="Google Shape;190;p19"/>
          <p:cNvSpPr/>
          <p:nvPr/>
        </p:nvSpPr>
        <p:spPr>
          <a:xfrm>
            <a:off x="5989320" y="3201986"/>
            <a:ext cx="27300" cy="2240400"/>
          </a:xfrm>
          <a:prstGeom prst="rect">
            <a:avLst/>
          </a:prstGeom>
          <a:solidFill>
            <a:srgbClr val="6D9EE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9"/>
          <p:cNvSpPr txBox="1"/>
          <p:nvPr/>
        </p:nvSpPr>
        <p:spPr>
          <a:xfrm>
            <a:off x="6400800" y="3273600"/>
            <a:ext cx="2560200" cy="2694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A9B6C4"/>
                </a:solidFill>
                <a:latin typeface="Arial"/>
                <a:ea typeface="Arial"/>
                <a:cs typeface="Arial"/>
                <a:sym typeface="Arial"/>
              </a:rPr>
              <a:t>RANDOM FOREST BASELINE</a:t>
            </a:r>
            <a:endParaRPr b="0" i="0" sz="1600" u="none" cap="none" strike="noStrike">
              <a:solidFill>
                <a:srgbClr val="000000"/>
              </a:solidFill>
              <a:latin typeface="Arial"/>
              <a:ea typeface="Arial"/>
              <a:cs typeface="Arial"/>
              <a:sym typeface="Arial"/>
            </a:endParaRPr>
          </a:p>
        </p:txBody>
      </p:sp>
      <p:sp>
        <p:nvSpPr>
          <p:cNvPr id="192" name="Google Shape;192;p19"/>
          <p:cNvSpPr txBox="1"/>
          <p:nvPr/>
        </p:nvSpPr>
        <p:spPr>
          <a:xfrm>
            <a:off x="6400800" y="3631754"/>
            <a:ext cx="2103000" cy="3387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5F7FA"/>
                </a:solidFill>
                <a:latin typeface="Arial"/>
                <a:ea typeface="Arial"/>
                <a:cs typeface="Arial"/>
                <a:sym typeface="Arial"/>
              </a:rPr>
              <a:t>MAE  0.0487 €/L</a:t>
            </a:r>
            <a:endParaRPr b="0" i="0" sz="1400" u="none" cap="none" strike="noStrike">
              <a:solidFill>
                <a:srgbClr val="000000"/>
              </a:solidFill>
              <a:latin typeface="Arial"/>
              <a:ea typeface="Arial"/>
              <a:cs typeface="Arial"/>
              <a:sym typeface="Arial"/>
            </a:endParaRPr>
          </a:p>
        </p:txBody>
      </p:sp>
      <p:sp>
        <p:nvSpPr>
          <p:cNvPr id="193" name="Google Shape;193;p19"/>
          <p:cNvSpPr txBox="1"/>
          <p:nvPr/>
        </p:nvSpPr>
        <p:spPr>
          <a:xfrm>
            <a:off x="9212712" y="3293426"/>
            <a:ext cx="2103000" cy="2694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E89E34"/>
                </a:solidFill>
                <a:latin typeface="Arial"/>
                <a:ea typeface="Arial"/>
                <a:cs typeface="Arial"/>
                <a:sym typeface="Arial"/>
              </a:rPr>
              <a:t>XGBOOST</a:t>
            </a:r>
            <a:endParaRPr b="0" i="0" sz="1600" u="none" cap="none" strike="noStrike">
              <a:solidFill>
                <a:srgbClr val="000000"/>
              </a:solidFill>
              <a:latin typeface="Arial"/>
              <a:ea typeface="Arial"/>
              <a:cs typeface="Arial"/>
              <a:sym typeface="Arial"/>
            </a:endParaRPr>
          </a:p>
        </p:txBody>
      </p:sp>
      <p:sp>
        <p:nvSpPr>
          <p:cNvPr id="194" name="Google Shape;194;p19"/>
          <p:cNvSpPr txBox="1"/>
          <p:nvPr/>
        </p:nvSpPr>
        <p:spPr>
          <a:xfrm>
            <a:off x="9212712" y="3631754"/>
            <a:ext cx="2103000" cy="3387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5F7FA"/>
                </a:solidFill>
                <a:latin typeface="Arial"/>
                <a:ea typeface="Arial"/>
                <a:cs typeface="Arial"/>
                <a:sym typeface="Arial"/>
              </a:rPr>
              <a:t>MAE  0.0380 €/L</a:t>
            </a:r>
            <a:endParaRPr b="0" i="0" sz="1400" u="none" cap="none" strike="noStrike">
              <a:solidFill>
                <a:srgbClr val="000000"/>
              </a:solidFill>
              <a:latin typeface="Arial"/>
              <a:ea typeface="Arial"/>
              <a:cs typeface="Arial"/>
              <a:sym typeface="Arial"/>
            </a:endParaRPr>
          </a:p>
        </p:txBody>
      </p:sp>
      <p:sp>
        <p:nvSpPr>
          <p:cNvPr id="195" name="Google Shape;195;p19"/>
          <p:cNvSpPr txBox="1"/>
          <p:nvPr/>
        </p:nvSpPr>
        <p:spPr>
          <a:xfrm>
            <a:off x="6400800" y="4390706"/>
            <a:ext cx="4572000" cy="3693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E89E34"/>
                </a:solidFill>
                <a:latin typeface="Arial"/>
                <a:ea typeface="Arial"/>
                <a:cs typeface="Arial"/>
                <a:sym typeface="Arial"/>
              </a:rPr>
              <a:t>≈ 22% lower validation error</a:t>
            </a:r>
            <a:endParaRPr b="0" i="0" sz="1400" u="none" cap="none" strike="noStrike">
              <a:solidFill>
                <a:srgbClr val="000000"/>
              </a:solidFill>
              <a:latin typeface="Arial"/>
              <a:ea typeface="Arial"/>
              <a:cs typeface="Arial"/>
              <a:sym typeface="Arial"/>
            </a:endParaRPr>
          </a:p>
        </p:txBody>
      </p:sp>
      <p:sp>
        <p:nvSpPr>
          <p:cNvPr id="196" name="Google Shape;196;p19"/>
          <p:cNvSpPr txBox="1"/>
          <p:nvPr/>
        </p:nvSpPr>
        <p:spPr>
          <a:xfrm>
            <a:off x="6400800" y="4939346"/>
            <a:ext cx="4572000" cy="3000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50"/>
              <a:buFont typeface="Arial"/>
              <a:buNone/>
            </a:pPr>
            <a:r>
              <a:rPr b="0" i="0" lang="en-US" sz="1350" u="none" cap="none" strike="noStrike">
                <a:solidFill>
                  <a:srgbClr val="A9B6C4"/>
                </a:solidFill>
                <a:latin typeface="Arial"/>
                <a:ea typeface="Arial"/>
                <a:cs typeface="Arial"/>
                <a:sym typeface="Arial"/>
              </a:rPr>
              <a:t>XGBoost becomes our flagship model.</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B2B"/>
        </a:solidFill>
      </p:bgPr>
    </p:bg>
    <p:spTree>
      <p:nvGrpSpPr>
        <p:cNvPr id="200" name="Shape 200"/>
        <p:cNvGrpSpPr/>
        <p:nvPr/>
      </p:nvGrpSpPr>
      <p:grpSpPr>
        <a:xfrm>
          <a:off x="0" y="0"/>
          <a:ext cx="0" cy="0"/>
          <a:chOff x="0" y="0"/>
          <a:chExt cx="0" cy="0"/>
        </a:xfrm>
      </p:grpSpPr>
      <p:sp>
        <p:nvSpPr>
          <p:cNvPr id="201" name="Google Shape;201;p20"/>
          <p:cNvSpPr txBox="1"/>
          <p:nvPr/>
        </p:nvSpPr>
        <p:spPr>
          <a:xfrm>
            <a:off x="530352" y="310896"/>
            <a:ext cx="10972800" cy="477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F5F7FA"/>
                </a:solidFill>
                <a:latin typeface="Arial"/>
                <a:ea typeface="Arial"/>
                <a:cs typeface="Arial"/>
                <a:sym typeface="Arial"/>
              </a:rPr>
              <a:t>6. XGBoost Tuning &amp; Performance</a:t>
            </a:r>
            <a:endParaRPr b="0" i="0" sz="1900" u="none" cap="none" strike="noStrike">
              <a:solidFill>
                <a:srgbClr val="000000"/>
              </a:solidFill>
              <a:latin typeface="Arial"/>
              <a:ea typeface="Arial"/>
              <a:cs typeface="Arial"/>
              <a:sym typeface="Arial"/>
            </a:endParaRPr>
          </a:p>
        </p:txBody>
      </p:sp>
      <p:sp>
        <p:nvSpPr>
          <p:cNvPr id="202" name="Google Shape;202;p20"/>
          <p:cNvSpPr txBox="1"/>
          <p:nvPr/>
        </p:nvSpPr>
        <p:spPr>
          <a:xfrm>
            <a:off x="548640" y="768096"/>
            <a:ext cx="10698600" cy="300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chemeClr val="lt1"/>
                </a:solidFill>
                <a:latin typeface="Arial"/>
                <a:ea typeface="Arial"/>
                <a:cs typeface="Arial"/>
                <a:sym typeface="Arial"/>
              </a:rPr>
              <a:t>Broad exploration  →  focused search  →  final refinement.</a:t>
            </a:r>
            <a:endParaRPr b="0" i="0" sz="1800" u="none" cap="none" strike="noStrike">
              <a:solidFill>
                <a:schemeClr val="lt1"/>
              </a:solidFill>
              <a:latin typeface="Arial"/>
              <a:ea typeface="Arial"/>
              <a:cs typeface="Arial"/>
              <a:sym typeface="Arial"/>
            </a:endParaRPr>
          </a:p>
        </p:txBody>
      </p:sp>
      <p:sp>
        <p:nvSpPr>
          <p:cNvPr id="203" name="Google Shape;203;p20"/>
          <p:cNvSpPr/>
          <p:nvPr/>
        </p:nvSpPr>
        <p:spPr>
          <a:xfrm>
            <a:off x="685800" y="1417320"/>
            <a:ext cx="2514600" cy="1143000"/>
          </a:xfrm>
          <a:prstGeom prst="roundRect">
            <a:avLst>
              <a:gd fmla="val 16667" name="adj"/>
            </a:avLst>
          </a:prstGeom>
          <a:solidFill>
            <a:srgbClr val="1B2A3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4" name="Google Shape;204;p20"/>
          <p:cNvSpPr txBox="1"/>
          <p:nvPr/>
        </p:nvSpPr>
        <p:spPr>
          <a:xfrm>
            <a:off x="822960" y="1536192"/>
            <a:ext cx="2240400" cy="300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E89E34"/>
                </a:solidFill>
                <a:latin typeface="Arial"/>
                <a:ea typeface="Arial"/>
                <a:cs typeface="Arial"/>
                <a:sym typeface="Arial"/>
              </a:rPr>
              <a:t>RANDOM SEARCH</a:t>
            </a:r>
            <a:endParaRPr b="0" i="0" sz="1800" u="none" cap="none" strike="noStrike">
              <a:solidFill>
                <a:srgbClr val="000000"/>
              </a:solidFill>
              <a:latin typeface="Arial"/>
              <a:ea typeface="Arial"/>
              <a:cs typeface="Arial"/>
              <a:sym typeface="Arial"/>
            </a:endParaRPr>
          </a:p>
        </p:txBody>
      </p:sp>
      <p:sp>
        <p:nvSpPr>
          <p:cNvPr id="205" name="Google Shape;205;p20"/>
          <p:cNvSpPr txBox="1"/>
          <p:nvPr/>
        </p:nvSpPr>
        <p:spPr>
          <a:xfrm>
            <a:off x="822960" y="1828800"/>
            <a:ext cx="2240400" cy="300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A9B6C4"/>
                </a:solidFill>
                <a:latin typeface="Arial"/>
                <a:ea typeface="Arial"/>
                <a:cs typeface="Arial"/>
                <a:sym typeface="Arial"/>
              </a:rPr>
              <a:t>10 combinations tested</a:t>
            </a:r>
            <a:endParaRPr b="0" i="0" sz="1800" u="none" cap="none" strike="noStrike">
              <a:solidFill>
                <a:srgbClr val="000000"/>
              </a:solidFill>
              <a:latin typeface="Arial"/>
              <a:ea typeface="Arial"/>
              <a:cs typeface="Arial"/>
              <a:sym typeface="Arial"/>
            </a:endParaRPr>
          </a:p>
        </p:txBody>
      </p:sp>
      <p:sp>
        <p:nvSpPr>
          <p:cNvPr id="206" name="Google Shape;206;p20"/>
          <p:cNvSpPr txBox="1"/>
          <p:nvPr/>
        </p:nvSpPr>
        <p:spPr>
          <a:xfrm>
            <a:off x="822960" y="2130552"/>
            <a:ext cx="2240400" cy="354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F5F7FA"/>
                </a:solidFill>
                <a:latin typeface="Arial"/>
                <a:ea typeface="Arial"/>
                <a:cs typeface="Arial"/>
                <a:sym typeface="Arial"/>
              </a:rPr>
              <a:t>MAE ≈ 0.0383 €/L</a:t>
            </a:r>
            <a:endParaRPr b="0" i="0" sz="1800" u="none" cap="none" strike="noStrike">
              <a:solidFill>
                <a:srgbClr val="000000"/>
              </a:solidFill>
              <a:latin typeface="Arial"/>
              <a:ea typeface="Arial"/>
              <a:cs typeface="Arial"/>
              <a:sym typeface="Arial"/>
            </a:endParaRPr>
          </a:p>
        </p:txBody>
      </p:sp>
      <p:sp>
        <p:nvSpPr>
          <p:cNvPr id="207" name="Google Shape;207;p20"/>
          <p:cNvSpPr/>
          <p:nvPr/>
        </p:nvSpPr>
        <p:spPr>
          <a:xfrm>
            <a:off x="3794760" y="2240280"/>
            <a:ext cx="2514600" cy="1143000"/>
          </a:xfrm>
          <a:prstGeom prst="roundRect">
            <a:avLst>
              <a:gd fmla="val 16667" name="adj"/>
            </a:avLst>
          </a:prstGeom>
          <a:solidFill>
            <a:srgbClr val="1B2A3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8" name="Google Shape;208;p20"/>
          <p:cNvSpPr txBox="1"/>
          <p:nvPr/>
        </p:nvSpPr>
        <p:spPr>
          <a:xfrm>
            <a:off x="3931920" y="2359152"/>
            <a:ext cx="2240400" cy="300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E89E34"/>
                </a:solidFill>
                <a:latin typeface="Arial"/>
                <a:ea typeface="Arial"/>
                <a:cs typeface="Arial"/>
                <a:sym typeface="Arial"/>
              </a:rPr>
              <a:t>GRID SEARCH</a:t>
            </a:r>
            <a:endParaRPr b="0" i="0" sz="1800" u="none" cap="none" strike="noStrike">
              <a:solidFill>
                <a:srgbClr val="000000"/>
              </a:solidFill>
              <a:latin typeface="Arial"/>
              <a:ea typeface="Arial"/>
              <a:cs typeface="Arial"/>
              <a:sym typeface="Arial"/>
            </a:endParaRPr>
          </a:p>
        </p:txBody>
      </p:sp>
      <p:sp>
        <p:nvSpPr>
          <p:cNvPr id="209" name="Google Shape;209;p20"/>
          <p:cNvSpPr txBox="1"/>
          <p:nvPr/>
        </p:nvSpPr>
        <p:spPr>
          <a:xfrm>
            <a:off x="3931920" y="2651760"/>
            <a:ext cx="2240400" cy="300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A9B6C4"/>
                </a:solidFill>
                <a:latin typeface="Arial"/>
                <a:ea typeface="Arial"/>
                <a:cs typeface="Arial"/>
                <a:sym typeface="Arial"/>
              </a:rPr>
              <a:t>16 refined combinations</a:t>
            </a:r>
            <a:endParaRPr b="0" i="0" sz="1800" u="none" cap="none" strike="noStrike">
              <a:solidFill>
                <a:srgbClr val="000000"/>
              </a:solidFill>
              <a:latin typeface="Arial"/>
              <a:ea typeface="Arial"/>
              <a:cs typeface="Arial"/>
              <a:sym typeface="Arial"/>
            </a:endParaRPr>
          </a:p>
        </p:txBody>
      </p:sp>
      <p:sp>
        <p:nvSpPr>
          <p:cNvPr id="210" name="Google Shape;210;p20"/>
          <p:cNvSpPr txBox="1"/>
          <p:nvPr/>
        </p:nvSpPr>
        <p:spPr>
          <a:xfrm>
            <a:off x="3931920" y="2953512"/>
            <a:ext cx="2240400" cy="354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F5F7FA"/>
                </a:solidFill>
                <a:latin typeface="Arial"/>
                <a:ea typeface="Arial"/>
                <a:cs typeface="Arial"/>
                <a:sym typeface="Arial"/>
              </a:rPr>
              <a:t>MAE ≈ 0.0380 €/L</a:t>
            </a:r>
            <a:endParaRPr b="0" i="0" sz="1800" u="none" cap="none" strike="noStrike">
              <a:solidFill>
                <a:srgbClr val="000000"/>
              </a:solidFill>
              <a:latin typeface="Arial"/>
              <a:ea typeface="Arial"/>
              <a:cs typeface="Arial"/>
              <a:sym typeface="Arial"/>
            </a:endParaRPr>
          </a:p>
        </p:txBody>
      </p:sp>
      <p:sp>
        <p:nvSpPr>
          <p:cNvPr id="211" name="Google Shape;211;p20"/>
          <p:cNvSpPr/>
          <p:nvPr/>
        </p:nvSpPr>
        <p:spPr>
          <a:xfrm>
            <a:off x="6903720" y="3063240"/>
            <a:ext cx="2514600" cy="1143000"/>
          </a:xfrm>
          <a:prstGeom prst="roundRect">
            <a:avLst>
              <a:gd fmla="val 16667" name="adj"/>
            </a:avLst>
          </a:prstGeom>
          <a:solidFill>
            <a:srgbClr val="1B2A3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2" name="Google Shape;212;p20"/>
          <p:cNvSpPr txBox="1"/>
          <p:nvPr/>
        </p:nvSpPr>
        <p:spPr>
          <a:xfrm>
            <a:off x="7040880" y="3182112"/>
            <a:ext cx="2240400" cy="300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E89E34"/>
                </a:solidFill>
                <a:latin typeface="Arial"/>
                <a:ea typeface="Arial"/>
                <a:cs typeface="Arial"/>
                <a:sym typeface="Arial"/>
              </a:rPr>
              <a:t>MANUAL SEARCH</a:t>
            </a:r>
            <a:endParaRPr b="0" i="0" sz="1800" u="none" cap="none" strike="noStrike">
              <a:solidFill>
                <a:srgbClr val="000000"/>
              </a:solidFill>
              <a:latin typeface="Arial"/>
              <a:ea typeface="Arial"/>
              <a:cs typeface="Arial"/>
              <a:sym typeface="Arial"/>
            </a:endParaRPr>
          </a:p>
        </p:txBody>
      </p:sp>
      <p:sp>
        <p:nvSpPr>
          <p:cNvPr id="213" name="Google Shape;213;p20"/>
          <p:cNvSpPr txBox="1"/>
          <p:nvPr/>
        </p:nvSpPr>
        <p:spPr>
          <a:xfrm>
            <a:off x="7040880" y="3474720"/>
            <a:ext cx="2240400" cy="300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A9B6C4"/>
                </a:solidFill>
                <a:latin typeface="Arial"/>
                <a:ea typeface="Arial"/>
                <a:cs typeface="Arial"/>
                <a:sym typeface="Arial"/>
              </a:rPr>
              <a:t>Final adjustments</a:t>
            </a:r>
            <a:endParaRPr b="0" i="0" sz="1800" u="none" cap="none" strike="noStrike">
              <a:solidFill>
                <a:srgbClr val="000000"/>
              </a:solidFill>
              <a:latin typeface="Arial"/>
              <a:ea typeface="Arial"/>
              <a:cs typeface="Arial"/>
              <a:sym typeface="Arial"/>
            </a:endParaRPr>
          </a:p>
        </p:txBody>
      </p:sp>
      <p:sp>
        <p:nvSpPr>
          <p:cNvPr id="214" name="Google Shape;214;p20"/>
          <p:cNvSpPr txBox="1"/>
          <p:nvPr/>
        </p:nvSpPr>
        <p:spPr>
          <a:xfrm>
            <a:off x="7040880" y="3776472"/>
            <a:ext cx="2240400" cy="354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F5F7FA"/>
                </a:solidFill>
                <a:latin typeface="Arial"/>
                <a:ea typeface="Arial"/>
                <a:cs typeface="Arial"/>
                <a:sym typeface="Arial"/>
              </a:rPr>
              <a:t>MAE ≈ 0.0374 €/L</a:t>
            </a:r>
            <a:endParaRPr b="0" i="0" sz="1800" u="none" cap="none" strike="noStrike">
              <a:solidFill>
                <a:srgbClr val="000000"/>
              </a:solidFill>
              <a:latin typeface="Arial"/>
              <a:ea typeface="Arial"/>
              <a:cs typeface="Arial"/>
              <a:sym typeface="Arial"/>
            </a:endParaRPr>
          </a:p>
        </p:txBody>
      </p:sp>
      <p:sp>
        <p:nvSpPr>
          <p:cNvPr id="215" name="Google Shape;215;p20"/>
          <p:cNvSpPr txBox="1"/>
          <p:nvPr/>
        </p:nvSpPr>
        <p:spPr>
          <a:xfrm>
            <a:off x="3218688" y="1993392"/>
            <a:ext cx="411600" cy="3693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6D9EEB"/>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16" name="Google Shape;216;p20"/>
          <p:cNvSpPr txBox="1"/>
          <p:nvPr/>
        </p:nvSpPr>
        <p:spPr>
          <a:xfrm>
            <a:off x="6327648" y="2816352"/>
            <a:ext cx="411600" cy="3693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6D9EEB"/>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17" name="Google Shape;217;p20"/>
          <p:cNvSpPr txBox="1"/>
          <p:nvPr/>
        </p:nvSpPr>
        <p:spPr>
          <a:xfrm>
            <a:off x="9418326" y="1417325"/>
            <a:ext cx="2514600" cy="295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19"/>
              <a:buFont typeface="Arial"/>
              <a:buNone/>
            </a:pPr>
            <a:r>
              <a:rPr b="1" i="0" lang="en-US" sz="1319" u="none" cap="none" strike="noStrike">
                <a:solidFill>
                  <a:srgbClr val="E89E34"/>
                </a:solidFill>
                <a:latin typeface="Arial"/>
                <a:ea typeface="Arial"/>
                <a:cs typeface="Arial"/>
                <a:sym typeface="Arial"/>
              </a:rPr>
              <a:t>BEST CONFIGURATION</a:t>
            </a:r>
            <a:endParaRPr b="0" i="0" sz="1800" u="none" cap="none" strike="noStrike">
              <a:solidFill>
                <a:srgbClr val="000000"/>
              </a:solidFill>
              <a:latin typeface="Arial"/>
              <a:ea typeface="Arial"/>
              <a:cs typeface="Arial"/>
              <a:sym typeface="Arial"/>
            </a:endParaRPr>
          </a:p>
        </p:txBody>
      </p:sp>
      <p:sp>
        <p:nvSpPr>
          <p:cNvPr id="218" name="Google Shape;218;p20"/>
          <p:cNvSpPr txBox="1"/>
          <p:nvPr/>
        </p:nvSpPr>
        <p:spPr>
          <a:xfrm>
            <a:off x="9738345" y="1755650"/>
            <a:ext cx="2240400" cy="1231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80"/>
              <a:buFont typeface="Arial"/>
              <a:buNone/>
            </a:pPr>
            <a:r>
              <a:rPr b="1" i="0" lang="en-US" sz="1480" u="none" cap="none" strike="noStrike">
                <a:solidFill>
                  <a:srgbClr val="F5F7FA"/>
                </a:solidFill>
                <a:latin typeface="Arial"/>
                <a:ea typeface="Arial"/>
                <a:cs typeface="Arial"/>
                <a:sym typeface="Arial"/>
              </a:rPr>
              <a:t>1,200 trees</a:t>
            </a:r>
            <a:br>
              <a:rPr b="1" i="0" lang="en-US" sz="1480" u="none" cap="none" strike="noStrike">
                <a:solidFill>
                  <a:srgbClr val="F5F7FA"/>
                </a:solidFill>
                <a:latin typeface="Arial"/>
                <a:ea typeface="Arial"/>
                <a:cs typeface="Arial"/>
                <a:sym typeface="Arial"/>
              </a:rPr>
            </a:br>
            <a:r>
              <a:rPr b="1" i="0" lang="en-US" sz="1480" u="none" cap="none" strike="noStrike">
                <a:solidFill>
                  <a:srgbClr val="F5F7FA"/>
                </a:solidFill>
                <a:latin typeface="Arial"/>
                <a:ea typeface="Arial"/>
                <a:cs typeface="Arial"/>
                <a:sym typeface="Arial"/>
              </a:rPr>
              <a:t>Learning rate 0.1</a:t>
            </a:r>
            <a:br>
              <a:rPr b="1" i="0" lang="en-US" sz="1480" u="none" cap="none" strike="noStrike">
                <a:solidFill>
                  <a:srgbClr val="F5F7FA"/>
                </a:solidFill>
                <a:latin typeface="Arial"/>
                <a:ea typeface="Arial"/>
                <a:cs typeface="Arial"/>
                <a:sym typeface="Arial"/>
              </a:rPr>
            </a:br>
            <a:r>
              <a:rPr b="1" i="0" lang="en-US" sz="1480" u="none" cap="none" strike="noStrike">
                <a:solidFill>
                  <a:srgbClr val="F5F7FA"/>
                </a:solidFill>
                <a:latin typeface="Arial"/>
                <a:ea typeface="Arial"/>
                <a:cs typeface="Arial"/>
                <a:sym typeface="Arial"/>
              </a:rPr>
              <a:t>Subsample 0.9</a:t>
            </a:r>
            <a:br>
              <a:rPr b="1" i="0" lang="en-US" sz="1480" u="none" cap="none" strike="noStrike">
                <a:solidFill>
                  <a:srgbClr val="F5F7FA"/>
                </a:solidFill>
                <a:latin typeface="Arial"/>
                <a:ea typeface="Arial"/>
                <a:cs typeface="Arial"/>
                <a:sym typeface="Arial"/>
              </a:rPr>
            </a:br>
            <a:r>
              <a:rPr b="1" i="0" lang="en-US" sz="1480" u="none" cap="none" strike="noStrike">
                <a:solidFill>
                  <a:srgbClr val="F5F7FA"/>
                </a:solidFill>
                <a:latin typeface="Arial"/>
                <a:ea typeface="Arial"/>
                <a:cs typeface="Arial"/>
                <a:sym typeface="Arial"/>
              </a:rPr>
              <a:t>Column sample 0.6</a:t>
            </a:r>
            <a:br>
              <a:rPr b="1" i="0" lang="en-US" sz="1480" u="none" cap="none" strike="noStrike">
                <a:solidFill>
                  <a:srgbClr val="F5F7FA"/>
                </a:solidFill>
                <a:latin typeface="Arial"/>
                <a:ea typeface="Arial"/>
                <a:cs typeface="Arial"/>
                <a:sym typeface="Arial"/>
              </a:rPr>
            </a:br>
            <a:r>
              <a:rPr b="1" i="0" lang="en-US" sz="1480" u="none" cap="none" strike="noStrike">
                <a:solidFill>
                  <a:srgbClr val="F5F7FA"/>
                </a:solidFill>
                <a:latin typeface="Arial"/>
                <a:ea typeface="Arial"/>
                <a:cs typeface="Arial"/>
                <a:sym typeface="Arial"/>
              </a:rPr>
              <a:t>L2  3</a:t>
            </a:r>
            <a:endParaRPr b="0" i="0" sz="1800" u="none" cap="none" strike="noStrike">
              <a:solidFill>
                <a:srgbClr val="000000"/>
              </a:solidFill>
              <a:latin typeface="Arial"/>
              <a:ea typeface="Arial"/>
              <a:cs typeface="Arial"/>
              <a:sym typeface="Arial"/>
            </a:endParaRPr>
          </a:p>
        </p:txBody>
      </p:sp>
      <p:sp>
        <p:nvSpPr>
          <p:cNvPr id="219" name="Google Shape;219;p20"/>
          <p:cNvSpPr txBox="1"/>
          <p:nvPr/>
        </p:nvSpPr>
        <p:spPr>
          <a:xfrm>
            <a:off x="473854" y="4983475"/>
            <a:ext cx="11460300" cy="346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50"/>
              <a:buFont typeface="Arial"/>
              <a:buNone/>
            </a:pPr>
            <a:r>
              <a:rPr b="1" i="0" lang="en-US" sz="1650" u="none" cap="none" strike="noStrike">
                <a:solidFill>
                  <a:srgbClr val="F5F7FA"/>
                </a:solidFill>
                <a:latin typeface="Arial"/>
                <a:ea typeface="Arial"/>
                <a:cs typeface="Arial"/>
                <a:sym typeface="Arial"/>
              </a:rPr>
              <a:t>The validation gain was modest. The real question was whether it would hold on genuinely unseen future data.</a:t>
            </a:r>
            <a:endParaRPr b="0" i="0" sz="1800" u="none" cap="none" strike="noStrike">
              <a:solidFill>
                <a:srgbClr val="000000"/>
              </a:solidFill>
              <a:latin typeface="Arial"/>
              <a:ea typeface="Arial"/>
              <a:cs typeface="Arial"/>
              <a:sym typeface="Arial"/>
            </a:endParaRPr>
          </a:p>
        </p:txBody>
      </p:sp>
      <p:sp>
        <p:nvSpPr>
          <p:cNvPr id="220" name="Google Shape;220;p20"/>
          <p:cNvSpPr/>
          <p:nvPr/>
        </p:nvSpPr>
        <p:spPr>
          <a:xfrm>
            <a:off x="731520" y="5596128"/>
            <a:ext cx="3749100" cy="22800"/>
          </a:xfrm>
          <a:prstGeom prst="rect">
            <a:avLst/>
          </a:prstGeom>
          <a:solidFill>
            <a:srgbClr val="E89E3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B2B"/>
        </a:solidFill>
      </p:bgPr>
    </p:bg>
    <p:spTree>
      <p:nvGrpSpPr>
        <p:cNvPr id="224" name="Shape 224"/>
        <p:cNvGrpSpPr/>
        <p:nvPr/>
      </p:nvGrpSpPr>
      <p:grpSpPr>
        <a:xfrm>
          <a:off x="0" y="0"/>
          <a:ext cx="0" cy="0"/>
          <a:chOff x="0" y="0"/>
          <a:chExt cx="0" cy="0"/>
        </a:xfrm>
      </p:grpSpPr>
      <p:sp>
        <p:nvSpPr>
          <p:cNvPr id="225" name="Google Shape;225;p21"/>
          <p:cNvSpPr txBox="1"/>
          <p:nvPr/>
        </p:nvSpPr>
        <p:spPr>
          <a:xfrm>
            <a:off x="530352" y="310896"/>
            <a:ext cx="10972800" cy="477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F5F7FA"/>
                </a:solidFill>
                <a:latin typeface="Arial"/>
                <a:ea typeface="Arial"/>
                <a:cs typeface="Arial"/>
                <a:sym typeface="Arial"/>
              </a:rPr>
              <a:t>7. Final Test Results &amp; Feature Importance</a:t>
            </a:r>
            <a:endParaRPr b="0" i="0" sz="1900" u="none" cap="none" strike="noStrike">
              <a:solidFill>
                <a:srgbClr val="000000"/>
              </a:solidFill>
              <a:latin typeface="Arial"/>
              <a:ea typeface="Arial"/>
              <a:cs typeface="Arial"/>
              <a:sym typeface="Arial"/>
            </a:endParaRPr>
          </a:p>
        </p:txBody>
      </p:sp>
      <p:sp>
        <p:nvSpPr>
          <p:cNvPr id="226" name="Google Shape;226;p21"/>
          <p:cNvSpPr txBox="1"/>
          <p:nvPr/>
        </p:nvSpPr>
        <p:spPr>
          <a:xfrm>
            <a:off x="548640" y="768096"/>
            <a:ext cx="10698600" cy="300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A9B6C4"/>
                </a:solidFill>
                <a:latin typeface="Arial"/>
                <a:ea typeface="Arial"/>
                <a:cs typeface="Arial"/>
                <a:sym typeface="Arial"/>
              </a:rPr>
              <a:t>The unseen future period reveals both model performance and its main predictive signals.</a:t>
            </a:r>
            <a:endParaRPr b="0" i="0" sz="1800" u="none" cap="none" strike="noStrike">
              <a:solidFill>
                <a:srgbClr val="000000"/>
              </a:solidFill>
              <a:latin typeface="Arial"/>
              <a:ea typeface="Arial"/>
              <a:cs typeface="Arial"/>
              <a:sym typeface="Arial"/>
            </a:endParaRPr>
          </a:p>
        </p:txBody>
      </p:sp>
      <p:sp>
        <p:nvSpPr>
          <p:cNvPr id="227" name="Google Shape;227;p21"/>
          <p:cNvSpPr/>
          <p:nvPr/>
        </p:nvSpPr>
        <p:spPr>
          <a:xfrm>
            <a:off x="548640" y="1170432"/>
            <a:ext cx="2240400" cy="932700"/>
          </a:xfrm>
          <a:prstGeom prst="roundRect">
            <a:avLst>
              <a:gd fmla="val 16667" name="adj"/>
            </a:avLst>
          </a:prstGeom>
          <a:solidFill>
            <a:srgbClr val="1B2A3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8" name="Google Shape;228;p21"/>
          <p:cNvSpPr txBox="1"/>
          <p:nvPr/>
        </p:nvSpPr>
        <p:spPr>
          <a:xfrm>
            <a:off x="658368" y="1298448"/>
            <a:ext cx="2011800" cy="2952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19"/>
              <a:buFont typeface="Arial"/>
              <a:buNone/>
            </a:pPr>
            <a:r>
              <a:rPr b="1" i="0" lang="en-US" sz="1319" u="none" cap="none" strike="noStrike">
                <a:solidFill>
                  <a:srgbClr val="E89E34"/>
                </a:solidFill>
                <a:latin typeface="Arial"/>
                <a:ea typeface="Arial"/>
                <a:cs typeface="Arial"/>
                <a:sym typeface="Arial"/>
              </a:rPr>
              <a:t>MAE</a:t>
            </a:r>
            <a:endParaRPr b="0" i="0" sz="1800" u="none" cap="none" strike="noStrike">
              <a:solidFill>
                <a:srgbClr val="000000"/>
              </a:solidFill>
              <a:latin typeface="Arial"/>
              <a:ea typeface="Arial"/>
              <a:cs typeface="Arial"/>
              <a:sym typeface="Arial"/>
            </a:endParaRPr>
          </a:p>
        </p:txBody>
      </p:sp>
      <p:sp>
        <p:nvSpPr>
          <p:cNvPr id="229" name="Google Shape;229;p21"/>
          <p:cNvSpPr txBox="1"/>
          <p:nvPr/>
        </p:nvSpPr>
        <p:spPr>
          <a:xfrm>
            <a:off x="658368" y="1572768"/>
            <a:ext cx="2011800" cy="4080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50"/>
              <a:buFont typeface="Arial"/>
              <a:buNone/>
            </a:pPr>
            <a:r>
              <a:rPr b="1" i="0" lang="en-US" sz="2050" u="none" cap="none" strike="noStrike">
                <a:solidFill>
                  <a:srgbClr val="F5F7FA"/>
                </a:solidFill>
                <a:latin typeface="Arial"/>
                <a:ea typeface="Arial"/>
                <a:cs typeface="Arial"/>
                <a:sym typeface="Arial"/>
              </a:rPr>
              <a:t>0.0507 €/L</a:t>
            </a:r>
            <a:endParaRPr b="0" i="0" sz="1800" u="none" cap="none" strike="noStrike">
              <a:solidFill>
                <a:srgbClr val="000000"/>
              </a:solidFill>
              <a:latin typeface="Arial"/>
              <a:ea typeface="Arial"/>
              <a:cs typeface="Arial"/>
              <a:sym typeface="Arial"/>
            </a:endParaRPr>
          </a:p>
        </p:txBody>
      </p:sp>
      <p:sp>
        <p:nvSpPr>
          <p:cNvPr id="230" name="Google Shape;230;p21"/>
          <p:cNvSpPr/>
          <p:nvPr/>
        </p:nvSpPr>
        <p:spPr>
          <a:xfrm>
            <a:off x="3063240" y="1170432"/>
            <a:ext cx="2240400" cy="932700"/>
          </a:xfrm>
          <a:prstGeom prst="roundRect">
            <a:avLst>
              <a:gd fmla="val 16667" name="adj"/>
            </a:avLst>
          </a:prstGeom>
          <a:solidFill>
            <a:srgbClr val="1B2A3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1" name="Google Shape;231;p21"/>
          <p:cNvSpPr txBox="1"/>
          <p:nvPr/>
        </p:nvSpPr>
        <p:spPr>
          <a:xfrm>
            <a:off x="3172968" y="1298448"/>
            <a:ext cx="2011800" cy="2952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19"/>
              <a:buFont typeface="Arial"/>
              <a:buNone/>
            </a:pPr>
            <a:r>
              <a:rPr b="1" i="0" lang="en-US" sz="1319" u="none" cap="none" strike="noStrike">
                <a:solidFill>
                  <a:srgbClr val="E89E34"/>
                </a:solidFill>
                <a:latin typeface="Arial"/>
                <a:ea typeface="Arial"/>
                <a:cs typeface="Arial"/>
                <a:sym typeface="Arial"/>
              </a:rPr>
              <a:t>RMSE</a:t>
            </a:r>
            <a:endParaRPr b="0" i="0" sz="1800" u="none" cap="none" strike="noStrike">
              <a:solidFill>
                <a:srgbClr val="000000"/>
              </a:solidFill>
              <a:latin typeface="Arial"/>
              <a:ea typeface="Arial"/>
              <a:cs typeface="Arial"/>
              <a:sym typeface="Arial"/>
            </a:endParaRPr>
          </a:p>
        </p:txBody>
      </p:sp>
      <p:sp>
        <p:nvSpPr>
          <p:cNvPr id="232" name="Google Shape;232;p21"/>
          <p:cNvSpPr txBox="1"/>
          <p:nvPr/>
        </p:nvSpPr>
        <p:spPr>
          <a:xfrm>
            <a:off x="3172968" y="1572768"/>
            <a:ext cx="2011800" cy="4080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50"/>
              <a:buFont typeface="Arial"/>
              <a:buNone/>
            </a:pPr>
            <a:r>
              <a:rPr b="1" i="0" lang="en-US" sz="2050" u="none" cap="none" strike="noStrike">
                <a:solidFill>
                  <a:srgbClr val="F5F7FA"/>
                </a:solidFill>
                <a:latin typeface="Arial"/>
                <a:ea typeface="Arial"/>
                <a:cs typeface="Arial"/>
                <a:sym typeface="Arial"/>
              </a:rPr>
              <a:t>0.0639</a:t>
            </a:r>
            <a:endParaRPr b="0" i="0" sz="1800" u="none" cap="none" strike="noStrike">
              <a:solidFill>
                <a:srgbClr val="000000"/>
              </a:solidFill>
              <a:latin typeface="Arial"/>
              <a:ea typeface="Arial"/>
              <a:cs typeface="Arial"/>
              <a:sym typeface="Arial"/>
            </a:endParaRPr>
          </a:p>
        </p:txBody>
      </p:sp>
      <p:sp>
        <p:nvSpPr>
          <p:cNvPr id="233" name="Google Shape;233;p21"/>
          <p:cNvSpPr/>
          <p:nvPr/>
        </p:nvSpPr>
        <p:spPr>
          <a:xfrm>
            <a:off x="5577840" y="1170432"/>
            <a:ext cx="2240400" cy="932700"/>
          </a:xfrm>
          <a:prstGeom prst="roundRect">
            <a:avLst>
              <a:gd fmla="val 16667" name="adj"/>
            </a:avLst>
          </a:prstGeom>
          <a:solidFill>
            <a:srgbClr val="1B2A3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4" name="Google Shape;234;p21"/>
          <p:cNvSpPr txBox="1"/>
          <p:nvPr/>
        </p:nvSpPr>
        <p:spPr>
          <a:xfrm>
            <a:off x="5687568" y="1298448"/>
            <a:ext cx="2011800" cy="2952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19"/>
              <a:buFont typeface="Arial"/>
              <a:buNone/>
            </a:pPr>
            <a:r>
              <a:rPr b="1" i="0" lang="en-US" sz="1319" u="none" cap="none" strike="noStrike">
                <a:solidFill>
                  <a:srgbClr val="E89E34"/>
                </a:solidFill>
                <a:latin typeface="Arial"/>
                <a:ea typeface="Arial"/>
                <a:cs typeface="Arial"/>
                <a:sym typeface="Arial"/>
              </a:rPr>
              <a:t>R²</a:t>
            </a:r>
            <a:endParaRPr b="0" i="0" sz="1800" u="none" cap="none" strike="noStrike">
              <a:solidFill>
                <a:srgbClr val="000000"/>
              </a:solidFill>
              <a:latin typeface="Arial"/>
              <a:ea typeface="Arial"/>
              <a:cs typeface="Arial"/>
              <a:sym typeface="Arial"/>
            </a:endParaRPr>
          </a:p>
        </p:txBody>
      </p:sp>
      <p:sp>
        <p:nvSpPr>
          <p:cNvPr id="235" name="Google Shape;235;p21"/>
          <p:cNvSpPr txBox="1"/>
          <p:nvPr/>
        </p:nvSpPr>
        <p:spPr>
          <a:xfrm>
            <a:off x="5687568" y="1572768"/>
            <a:ext cx="2011800" cy="4080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50"/>
              <a:buFont typeface="Arial"/>
              <a:buNone/>
            </a:pPr>
            <a:r>
              <a:rPr b="1" i="0" lang="en-US" sz="2050" u="none" cap="none" strike="noStrike">
                <a:solidFill>
                  <a:srgbClr val="F5F7FA"/>
                </a:solidFill>
                <a:latin typeface="Arial"/>
                <a:ea typeface="Arial"/>
                <a:cs typeface="Arial"/>
                <a:sym typeface="Arial"/>
              </a:rPr>
              <a:t>0.5957</a:t>
            </a:r>
            <a:endParaRPr b="0" i="0" sz="1800" u="none" cap="none" strike="noStrike">
              <a:solidFill>
                <a:srgbClr val="000000"/>
              </a:solidFill>
              <a:latin typeface="Arial"/>
              <a:ea typeface="Arial"/>
              <a:cs typeface="Arial"/>
              <a:sym typeface="Arial"/>
            </a:endParaRPr>
          </a:p>
        </p:txBody>
      </p:sp>
      <p:sp>
        <p:nvSpPr>
          <p:cNvPr id="236" name="Google Shape;236;p21"/>
          <p:cNvSpPr/>
          <p:nvPr/>
        </p:nvSpPr>
        <p:spPr>
          <a:xfrm>
            <a:off x="8092440" y="1170432"/>
            <a:ext cx="2240400" cy="932700"/>
          </a:xfrm>
          <a:prstGeom prst="roundRect">
            <a:avLst>
              <a:gd fmla="val 16667" name="adj"/>
            </a:avLst>
          </a:prstGeom>
          <a:solidFill>
            <a:srgbClr val="1B2A3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7" name="Google Shape;237;p21"/>
          <p:cNvSpPr txBox="1"/>
          <p:nvPr/>
        </p:nvSpPr>
        <p:spPr>
          <a:xfrm>
            <a:off x="8202167" y="1298448"/>
            <a:ext cx="2011800" cy="2952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19"/>
              <a:buFont typeface="Arial"/>
              <a:buNone/>
            </a:pPr>
            <a:r>
              <a:rPr b="1" i="0" lang="en-US" sz="1319" u="none" cap="none" strike="noStrike">
                <a:solidFill>
                  <a:srgbClr val="E89E34"/>
                </a:solidFill>
                <a:latin typeface="Arial"/>
                <a:ea typeface="Arial"/>
                <a:cs typeface="Arial"/>
                <a:sym typeface="Arial"/>
              </a:rPr>
              <a:t>TRAIN R²</a:t>
            </a:r>
            <a:endParaRPr b="0" i="0" sz="1800" u="none" cap="none" strike="noStrike">
              <a:solidFill>
                <a:srgbClr val="000000"/>
              </a:solidFill>
              <a:latin typeface="Arial"/>
              <a:ea typeface="Arial"/>
              <a:cs typeface="Arial"/>
              <a:sym typeface="Arial"/>
            </a:endParaRPr>
          </a:p>
        </p:txBody>
      </p:sp>
      <p:sp>
        <p:nvSpPr>
          <p:cNvPr id="238" name="Google Shape;238;p21"/>
          <p:cNvSpPr txBox="1"/>
          <p:nvPr/>
        </p:nvSpPr>
        <p:spPr>
          <a:xfrm>
            <a:off x="8202167" y="1572768"/>
            <a:ext cx="2011800" cy="4080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50"/>
              <a:buFont typeface="Arial"/>
              <a:buNone/>
            </a:pPr>
            <a:r>
              <a:rPr b="1" i="0" lang="en-US" sz="2050" u="none" cap="none" strike="noStrike">
                <a:solidFill>
                  <a:srgbClr val="F5F7FA"/>
                </a:solidFill>
                <a:latin typeface="Arial"/>
                <a:ea typeface="Arial"/>
                <a:cs typeface="Arial"/>
                <a:sym typeface="Arial"/>
              </a:rPr>
              <a:t>0.8347</a:t>
            </a:r>
            <a:endParaRPr b="0" i="0" sz="1800" u="none" cap="none" strike="noStrike">
              <a:solidFill>
                <a:srgbClr val="000000"/>
              </a:solidFill>
              <a:latin typeface="Arial"/>
              <a:ea typeface="Arial"/>
              <a:cs typeface="Arial"/>
              <a:sym typeface="Arial"/>
            </a:endParaRPr>
          </a:p>
        </p:txBody>
      </p:sp>
      <p:sp>
        <p:nvSpPr>
          <p:cNvPr id="239" name="Google Shape;239;p21"/>
          <p:cNvSpPr txBox="1"/>
          <p:nvPr/>
        </p:nvSpPr>
        <p:spPr>
          <a:xfrm>
            <a:off x="566928" y="2423160"/>
            <a:ext cx="5394900" cy="300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E89E34"/>
                </a:solidFill>
                <a:latin typeface="Arial"/>
                <a:ea typeface="Arial"/>
                <a:cs typeface="Arial"/>
                <a:sym typeface="Arial"/>
              </a:rPr>
              <a:t>FEATURE IMPORTANCE</a:t>
            </a:r>
            <a:endParaRPr b="0" i="0" sz="1800" u="none" cap="none" strike="noStrike">
              <a:solidFill>
                <a:srgbClr val="000000"/>
              </a:solidFill>
              <a:latin typeface="Arial"/>
              <a:ea typeface="Arial"/>
              <a:cs typeface="Arial"/>
              <a:sym typeface="Arial"/>
            </a:endParaRPr>
          </a:p>
        </p:txBody>
      </p:sp>
      <p:sp>
        <p:nvSpPr>
          <p:cNvPr id="240" name="Google Shape;240;p21"/>
          <p:cNvSpPr/>
          <p:nvPr/>
        </p:nvSpPr>
        <p:spPr>
          <a:xfrm>
            <a:off x="530352" y="2724912"/>
            <a:ext cx="5715000" cy="2880300"/>
          </a:xfrm>
          <a:prstGeom prst="rect">
            <a:avLst/>
          </a:prstGeom>
          <a:solidFill>
            <a:srgbClr val="F8F8F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Capture d'écran 2026-09-18 114354.png" id="241" name="Google Shape;241;p21"/>
          <p:cNvPicPr preferRelativeResize="0"/>
          <p:nvPr/>
        </p:nvPicPr>
        <p:blipFill rotWithShape="1">
          <a:blip r:embed="rId3">
            <a:alphaModFix/>
          </a:blip>
          <a:srcRect b="0" l="0" r="0" t="0"/>
          <a:stretch/>
        </p:blipFill>
        <p:spPr>
          <a:xfrm>
            <a:off x="658368" y="2878226"/>
            <a:ext cx="5468112" cy="2546299"/>
          </a:xfrm>
          <a:prstGeom prst="rect">
            <a:avLst/>
          </a:prstGeom>
          <a:noFill/>
          <a:ln>
            <a:noFill/>
          </a:ln>
        </p:spPr>
      </p:pic>
      <p:sp>
        <p:nvSpPr>
          <p:cNvPr id="242" name="Google Shape;242;p21"/>
          <p:cNvSpPr/>
          <p:nvPr/>
        </p:nvSpPr>
        <p:spPr>
          <a:xfrm>
            <a:off x="6537960" y="2724912"/>
            <a:ext cx="4251900" cy="2880300"/>
          </a:xfrm>
          <a:prstGeom prst="roundRect">
            <a:avLst>
              <a:gd fmla="val 16667" name="adj"/>
            </a:avLst>
          </a:prstGeom>
          <a:solidFill>
            <a:srgbClr val="1B2A3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3" name="Google Shape;243;p21"/>
          <p:cNvSpPr txBox="1"/>
          <p:nvPr/>
        </p:nvSpPr>
        <p:spPr>
          <a:xfrm>
            <a:off x="6748272" y="2907792"/>
            <a:ext cx="3794700" cy="300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E89E34"/>
                </a:solidFill>
                <a:latin typeface="Arial"/>
                <a:ea typeface="Arial"/>
                <a:cs typeface="Arial"/>
                <a:sym typeface="Arial"/>
              </a:rPr>
              <a:t>WHAT STANDS OUT</a:t>
            </a:r>
            <a:endParaRPr b="0" i="0" sz="1800" u="none" cap="none" strike="noStrike">
              <a:solidFill>
                <a:srgbClr val="000000"/>
              </a:solidFill>
              <a:latin typeface="Arial"/>
              <a:ea typeface="Arial"/>
              <a:cs typeface="Arial"/>
              <a:sym typeface="Arial"/>
            </a:endParaRPr>
          </a:p>
        </p:txBody>
      </p:sp>
      <p:sp>
        <p:nvSpPr>
          <p:cNvPr id="244" name="Google Shape;244;p21"/>
          <p:cNvSpPr txBox="1"/>
          <p:nvPr/>
        </p:nvSpPr>
        <p:spPr>
          <a:xfrm>
            <a:off x="6748276" y="3246125"/>
            <a:ext cx="4416600" cy="600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50"/>
              <a:buFont typeface="Arial"/>
              <a:buNone/>
            </a:pPr>
            <a:r>
              <a:rPr b="1" i="0" lang="en-US" sz="1650" u="none" cap="none" strike="noStrike">
                <a:solidFill>
                  <a:srgbClr val="F5F7FA"/>
                </a:solidFill>
                <a:latin typeface="Arial"/>
                <a:ea typeface="Arial"/>
                <a:cs typeface="Arial"/>
                <a:sym typeface="Arial"/>
              </a:rPr>
              <a:t>Is Highway is the strongest predictor</a:t>
            </a:r>
            <a:br>
              <a:rPr b="1" i="0" lang="en-US" sz="1650" u="none" cap="none" strike="noStrike">
                <a:solidFill>
                  <a:srgbClr val="F5F7FA"/>
                </a:solidFill>
                <a:latin typeface="Arial"/>
                <a:ea typeface="Arial"/>
                <a:cs typeface="Arial"/>
                <a:sym typeface="Arial"/>
              </a:rPr>
            </a:br>
            <a:r>
              <a:rPr b="1" i="0" lang="en-US" sz="1650" u="none" cap="none" strike="noStrike">
                <a:solidFill>
                  <a:srgbClr val="F5F7FA"/>
                </a:solidFill>
                <a:latin typeface="Arial"/>
                <a:ea typeface="Arial"/>
                <a:cs typeface="Arial"/>
                <a:sym typeface="Arial"/>
              </a:rPr>
              <a:t>53.1% importance</a:t>
            </a:r>
            <a:endParaRPr b="0" i="0" sz="1500" u="none" cap="none" strike="noStrike">
              <a:solidFill>
                <a:srgbClr val="000000"/>
              </a:solidFill>
              <a:latin typeface="Arial"/>
              <a:ea typeface="Arial"/>
              <a:cs typeface="Arial"/>
              <a:sym typeface="Arial"/>
            </a:endParaRPr>
          </a:p>
        </p:txBody>
      </p:sp>
      <p:sp>
        <p:nvSpPr>
          <p:cNvPr id="245" name="Google Shape;245;p21"/>
          <p:cNvSpPr/>
          <p:nvPr/>
        </p:nvSpPr>
        <p:spPr>
          <a:xfrm>
            <a:off x="6748272" y="4096512"/>
            <a:ext cx="3566100" cy="22800"/>
          </a:xfrm>
          <a:prstGeom prst="rect">
            <a:avLst/>
          </a:prstGeom>
          <a:solidFill>
            <a:srgbClr val="6D9EE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6" name="Google Shape;246;p21"/>
          <p:cNvSpPr txBox="1"/>
          <p:nvPr/>
        </p:nvSpPr>
        <p:spPr>
          <a:xfrm>
            <a:off x="6748275" y="4352550"/>
            <a:ext cx="4041600" cy="762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50"/>
              <a:buFont typeface="Arial"/>
              <a:buNone/>
            </a:pPr>
            <a:r>
              <a:rPr b="0" i="0" lang="en-US" sz="1450" u="none" cap="none" strike="noStrike">
                <a:solidFill>
                  <a:srgbClr val="A9B6C4"/>
                </a:solidFill>
                <a:latin typeface="Arial"/>
                <a:ea typeface="Arial"/>
                <a:cs typeface="Arial"/>
                <a:sym typeface="Arial"/>
              </a:rPr>
              <a:t>Test MAE rose to about 5.1 cents/L.</a:t>
            </a:r>
            <a:br>
              <a:rPr b="0" i="0" lang="en-US" sz="1450" u="none" cap="none" strike="noStrike">
                <a:solidFill>
                  <a:srgbClr val="A9B6C4"/>
                </a:solidFill>
                <a:latin typeface="Arial"/>
                <a:ea typeface="Arial"/>
                <a:cs typeface="Arial"/>
                <a:sym typeface="Arial"/>
              </a:rPr>
            </a:br>
            <a:r>
              <a:rPr b="0" i="0" lang="en-US" sz="1450" u="none" cap="none" strike="noStrike">
                <a:solidFill>
                  <a:srgbClr val="A9B6C4"/>
                </a:solidFill>
                <a:latin typeface="Arial"/>
                <a:ea typeface="Arial"/>
                <a:cs typeface="Arial"/>
                <a:sym typeface="Arial"/>
              </a:rPr>
              <a:t>Performance dropped compared with training, so generalization remains a challenge.</a:t>
            </a:r>
            <a:endParaRPr b="0" i="0" sz="17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B2B"/>
        </a:solidFill>
      </p:bgPr>
    </p:bg>
    <p:spTree>
      <p:nvGrpSpPr>
        <p:cNvPr id="250" name="Shape 250"/>
        <p:cNvGrpSpPr/>
        <p:nvPr/>
      </p:nvGrpSpPr>
      <p:grpSpPr>
        <a:xfrm>
          <a:off x="0" y="0"/>
          <a:ext cx="0" cy="0"/>
          <a:chOff x="0" y="0"/>
          <a:chExt cx="0" cy="0"/>
        </a:xfrm>
      </p:grpSpPr>
      <p:sp>
        <p:nvSpPr>
          <p:cNvPr id="251" name="Google Shape;251;p22"/>
          <p:cNvSpPr txBox="1"/>
          <p:nvPr/>
        </p:nvSpPr>
        <p:spPr>
          <a:xfrm>
            <a:off x="530352" y="310896"/>
            <a:ext cx="10972800" cy="477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F5F7FA"/>
                </a:solidFill>
                <a:latin typeface="Arial"/>
                <a:ea typeface="Arial"/>
                <a:cs typeface="Arial"/>
                <a:sym typeface="Arial"/>
              </a:rPr>
              <a:t>8. Key Findings</a:t>
            </a:r>
            <a:endParaRPr b="0" i="0" sz="1900" u="none" cap="none" strike="noStrike">
              <a:solidFill>
                <a:srgbClr val="000000"/>
              </a:solidFill>
              <a:latin typeface="Arial"/>
              <a:ea typeface="Arial"/>
              <a:cs typeface="Arial"/>
              <a:sym typeface="Arial"/>
            </a:endParaRPr>
          </a:p>
        </p:txBody>
      </p:sp>
      <p:sp>
        <p:nvSpPr>
          <p:cNvPr id="252" name="Google Shape;252;p22"/>
          <p:cNvSpPr txBox="1"/>
          <p:nvPr/>
        </p:nvSpPr>
        <p:spPr>
          <a:xfrm>
            <a:off x="548640" y="768096"/>
            <a:ext cx="10698600" cy="3156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50"/>
              <a:buFont typeface="Arial"/>
              <a:buNone/>
            </a:pPr>
            <a:r>
              <a:rPr b="0" i="0" lang="en-US" sz="1450" u="none" cap="none" strike="noStrike">
                <a:solidFill>
                  <a:srgbClr val="A9B6C4"/>
                </a:solidFill>
                <a:latin typeface="Arial"/>
                <a:ea typeface="Arial"/>
                <a:cs typeface="Arial"/>
                <a:sym typeface="Arial"/>
              </a:rPr>
              <a:t>A useful model, with clear limits to generalization.</a:t>
            </a:r>
            <a:endParaRPr b="0" i="0" sz="1900" u="none" cap="none" strike="noStrike">
              <a:solidFill>
                <a:srgbClr val="000000"/>
              </a:solidFill>
              <a:latin typeface="Arial"/>
              <a:ea typeface="Arial"/>
              <a:cs typeface="Arial"/>
              <a:sym typeface="Arial"/>
            </a:endParaRPr>
          </a:p>
        </p:txBody>
      </p:sp>
      <p:sp>
        <p:nvSpPr>
          <p:cNvPr id="253" name="Google Shape;253;p22"/>
          <p:cNvSpPr/>
          <p:nvPr/>
        </p:nvSpPr>
        <p:spPr>
          <a:xfrm>
            <a:off x="685800" y="1508760"/>
            <a:ext cx="2971800" cy="2331600"/>
          </a:xfrm>
          <a:prstGeom prst="roundRect">
            <a:avLst>
              <a:gd fmla="val 16667" name="adj"/>
            </a:avLst>
          </a:prstGeom>
          <a:solidFill>
            <a:srgbClr val="1B2A3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4" name="Google Shape;254;p22"/>
          <p:cNvSpPr txBox="1"/>
          <p:nvPr/>
        </p:nvSpPr>
        <p:spPr>
          <a:xfrm>
            <a:off x="850392" y="1673352"/>
            <a:ext cx="457200" cy="3849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E89E34"/>
                </a:solidFill>
                <a:latin typeface="Arial"/>
                <a:ea typeface="Arial"/>
                <a:cs typeface="Arial"/>
                <a:sym typeface="Arial"/>
              </a:rPr>
              <a:t>01</a:t>
            </a:r>
            <a:endParaRPr b="0" i="0" sz="1800" u="none" cap="none" strike="noStrike">
              <a:solidFill>
                <a:srgbClr val="000000"/>
              </a:solidFill>
              <a:latin typeface="Arial"/>
              <a:ea typeface="Arial"/>
              <a:cs typeface="Arial"/>
              <a:sym typeface="Arial"/>
            </a:endParaRPr>
          </a:p>
        </p:txBody>
      </p:sp>
      <p:sp>
        <p:nvSpPr>
          <p:cNvPr id="255" name="Google Shape;255;p22"/>
          <p:cNvSpPr txBox="1"/>
          <p:nvPr/>
        </p:nvSpPr>
        <p:spPr>
          <a:xfrm>
            <a:off x="1344168" y="1712994"/>
            <a:ext cx="2057400" cy="300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E89E34"/>
                </a:solidFill>
                <a:latin typeface="Arial"/>
                <a:ea typeface="Arial"/>
                <a:cs typeface="Arial"/>
                <a:sym typeface="Arial"/>
              </a:rPr>
              <a:t>KEY SIGNALS</a:t>
            </a:r>
            <a:endParaRPr b="0" i="0" sz="1800" u="none" cap="none" strike="noStrike">
              <a:solidFill>
                <a:srgbClr val="000000"/>
              </a:solidFill>
              <a:latin typeface="Arial"/>
              <a:ea typeface="Arial"/>
              <a:cs typeface="Arial"/>
              <a:sym typeface="Arial"/>
            </a:endParaRPr>
          </a:p>
        </p:txBody>
      </p:sp>
      <p:sp>
        <p:nvSpPr>
          <p:cNvPr id="256" name="Google Shape;256;p22"/>
          <p:cNvSpPr txBox="1"/>
          <p:nvPr/>
        </p:nvSpPr>
        <p:spPr>
          <a:xfrm>
            <a:off x="850392" y="2212848"/>
            <a:ext cx="2606100" cy="10896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20"/>
              <a:buFont typeface="Arial"/>
              <a:buNone/>
            </a:pPr>
            <a:r>
              <a:rPr b="1" i="0" lang="en-US" sz="1620" u="none" cap="none" strike="noStrike">
                <a:solidFill>
                  <a:srgbClr val="F5F7FA"/>
                </a:solidFill>
                <a:latin typeface="Arial"/>
                <a:ea typeface="Arial"/>
                <a:cs typeface="Arial"/>
                <a:sym typeface="Arial"/>
              </a:rPr>
              <a:t>Station context was the strongest signal. Time, Brent and geography also contributed.</a:t>
            </a:r>
            <a:endParaRPr b="0" i="0" sz="1800" u="none" cap="none" strike="noStrike">
              <a:solidFill>
                <a:srgbClr val="000000"/>
              </a:solidFill>
              <a:latin typeface="Arial"/>
              <a:ea typeface="Arial"/>
              <a:cs typeface="Arial"/>
              <a:sym typeface="Arial"/>
            </a:endParaRPr>
          </a:p>
        </p:txBody>
      </p:sp>
      <p:sp>
        <p:nvSpPr>
          <p:cNvPr id="257" name="Google Shape;257;p22"/>
          <p:cNvSpPr/>
          <p:nvPr/>
        </p:nvSpPr>
        <p:spPr>
          <a:xfrm>
            <a:off x="4069080" y="1508760"/>
            <a:ext cx="2971800" cy="2331600"/>
          </a:xfrm>
          <a:prstGeom prst="roundRect">
            <a:avLst>
              <a:gd fmla="val 16667" name="adj"/>
            </a:avLst>
          </a:prstGeom>
          <a:solidFill>
            <a:srgbClr val="1B2A3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8" name="Google Shape;258;p22"/>
          <p:cNvSpPr txBox="1"/>
          <p:nvPr/>
        </p:nvSpPr>
        <p:spPr>
          <a:xfrm>
            <a:off x="4233672" y="1673352"/>
            <a:ext cx="457200" cy="3849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E89E34"/>
                </a:solidFill>
                <a:latin typeface="Arial"/>
                <a:ea typeface="Arial"/>
                <a:cs typeface="Arial"/>
                <a:sym typeface="Arial"/>
              </a:rPr>
              <a:t>02</a:t>
            </a:r>
            <a:endParaRPr b="0" i="0" sz="1800" u="none" cap="none" strike="noStrike">
              <a:solidFill>
                <a:srgbClr val="000000"/>
              </a:solidFill>
              <a:latin typeface="Arial"/>
              <a:ea typeface="Arial"/>
              <a:cs typeface="Arial"/>
              <a:sym typeface="Arial"/>
            </a:endParaRPr>
          </a:p>
        </p:txBody>
      </p:sp>
      <p:sp>
        <p:nvSpPr>
          <p:cNvPr id="259" name="Google Shape;259;p22"/>
          <p:cNvSpPr txBox="1"/>
          <p:nvPr/>
        </p:nvSpPr>
        <p:spPr>
          <a:xfrm>
            <a:off x="4727448" y="1712994"/>
            <a:ext cx="2057400" cy="300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E89E34"/>
                </a:solidFill>
                <a:latin typeface="Arial"/>
                <a:ea typeface="Arial"/>
                <a:cs typeface="Arial"/>
                <a:sym typeface="Arial"/>
              </a:rPr>
              <a:t>MODEL RESULT</a:t>
            </a:r>
            <a:endParaRPr b="0" i="0" sz="1800" u="none" cap="none" strike="noStrike">
              <a:solidFill>
                <a:srgbClr val="000000"/>
              </a:solidFill>
              <a:latin typeface="Arial"/>
              <a:ea typeface="Arial"/>
              <a:cs typeface="Arial"/>
              <a:sym typeface="Arial"/>
            </a:endParaRPr>
          </a:p>
        </p:txBody>
      </p:sp>
      <p:sp>
        <p:nvSpPr>
          <p:cNvPr id="260" name="Google Shape;260;p22"/>
          <p:cNvSpPr txBox="1"/>
          <p:nvPr/>
        </p:nvSpPr>
        <p:spPr>
          <a:xfrm>
            <a:off x="4233672" y="2212848"/>
            <a:ext cx="2606100" cy="10896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20"/>
              <a:buFont typeface="Arial"/>
              <a:buNone/>
            </a:pPr>
            <a:r>
              <a:rPr b="1" i="0" lang="en-US" sz="1620" u="none" cap="none" strike="noStrike">
                <a:solidFill>
                  <a:srgbClr val="F5F7FA"/>
                </a:solidFill>
                <a:latin typeface="Arial"/>
                <a:ea typeface="Arial"/>
                <a:cs typeface="Arial"/>
                <a:sym typeface="Arial"/>
              </a:rPr>
              <a:t>XGBoost clearly outperformed the Random Forest baseline during validation.</a:t>
            </a:r>
            <a:endParaRPr b="0" i="0" sz="1800" u="none" cap="none" strike="noStrike">
              <a:solidFill>
                <a:srgbClr val="000000"/>
              </a:solidFill>
              <a:latin typeface="Arial"/>
              <a:ea typeface="Arial"/>
              <a:cs typeface="Arial"/>
              <a:sym typeface="Arial"/>
            </a:endParaRPr>
          </a:p>
        </p:txBody>
      </p:sp>
      <p:sp>
        <p:nvSpPr>
          <p:cNvPr id="261" name="Google Shape;261;p22"/>
          <p:cNvSpPr/>
          <p:nvPr/>
        </p:nvSpPr>
        <p:spPr>
          <a:xfrm>
            <a:off x="7452360" y="1508760"/>
            <a:ext cx="2971800" cy="2331600"/>
          </a:xfrm>
          <a:prstGeom prst="roundRect">
            <a:avLst>
              <a:gd fmla="val 16667" name="adj"/>
            </a:avLst>
          </a:prstGeom>
          <a:solidFill>
            <a:srgbClr val="1B2A3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2" name="Google Shape;262;p22"/>
          <p:cNvSpPr txBox="1"/>
          <p:nvPr/>
        </p:nvSpPr>
        <p:spPr>
          <a:xfrm>
            <a:off x="7616952" y="1673352"/>
            <a:ext cx="457200" cy="3849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E89E34"/>
                </a:solidFill>
                <a:latin typeface="Arial"/>
                <a:ea typeface="Arial"/>
                <a:cs typeface="Arial"/>
                <a:sym typeface="Arial"/>
              </a:rPr>
              <a:t>03</a:t>
            </a:r>
            <a:endParaRPr b="0" i="0" sz="1800" u="none" cap="none" strike="noStrike">
              <a:solidFill>
                <a:srgbClr val="000000"/>
              </a:solidFill>
              <a:latin typeface="Arial"/>
              <a:ea typeface="Arial"/>
              <a:cs typeface="Arial"/>
              <a:sym typeface="Arial"/>
            </a:endParaRPr>
          </a:p>
        </p:txBody>
      </p:sp>
      <p:sp>
        <p:nvSpPr>
          <p:cNvPr id="263" name="Google Shape;263;p22"/>
          <p:cNvSpPr txBox="1"/>
          <p:nvPr/>
        </p:nvSpPr>
        <p:spPr>
          <a:xfrm>
            <a:off x="8110728" y="1732814"/>
            <a:ext cx="2057400" cy="300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E89E34"/>
                </a:solidFill>
                <a:latin typeface="Arial"/>
                <a:ea typeface="Arial"/>
                <a:cs typeface="Arial"/>
                <a:sym typeface="Arial"/>
              </a:rPr>
              <a:t>LIMITATION</a:t>
            </a:r>
            <a:endParaRPr b="0" i="0" sz="1800" u="none" cap="none" strike="noStrike">
              <a:solidFill>
                <a:srgbClr val="000000"/>
              </a:solidFill>
              <a:latin typeface="Arial"/>
              <a:ea typeface="Arial"/>
              <a:cs typeface="Arial"/>
              <a:sym typeface="Arial"/>
            </a:endParaRPr>
          </a:p>
        </p:txBody>
      </p:sp>
      <p:sp>
        <p:nvSpPr>
          <p:cNvPr id="264" name="Google Shape;264;p22"/>
          <p:cNvSpPr txBox="1"/>
          <p:nvPr/>
        </p:nvSpPr>
        <p:spPr>
          <a:xfrm>
            <a:off x="7616952" y="2212848"/>
            <a:ext cx="2606100" cy="1339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20"/>
              <a:buFont typeface="Arial"/>
              <a:buNone/>
            </a:pPr>
            <a:r>
              <a:rPr b="1" i="0" lang="en-US" sz="1620" u="none" cap="none" strike="noStrike">
                <a:solidFill>
                  <a:srgbClr val="F5F7FA"/>
                </a:solidFill>
                <a:latin typeface="Arial"/>
                <a:ea typeface="Arial"/>
                <a:cs typeface="Arial"/>
                <a:sym typeface="Arial"/>
              </a:rPr>
              <a:t>Performance decreased on the unseen future period. Predicting future prices remains challenging.</a:t>
            </a:r>
            <a:endParaRPr b="0" i="0" sz="1800" u="none" cap="none" strike="noStrike">
              <a:solidFill>
                <a:srgbClr val="000000"/>
              </a:solidFill>
              <a:latin typeface="Arial"/>
              <a:ea typeface="Arial"/>
              <a:cs typeface="Arial"/>
              <a:sym typeface="Arial"/>
            </a:endParaRPr>
          </a:p>
        </p:txBody>
      </p:sp>
      <p:sp>
        <p:nvSpPr>
          <p:cNvPr id="265" name="Google Shape;265;p22"/>
          <p:cNvSpPr txBox="1"/>
          <p:nvPr/>
        </p:nvSpPr>
        <p:spPr>
          <a:xfrm>
            <a:off x="1051560" y="4663440"/>
            <a:ext cx="9875400" cy="5910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20"/>
              <a:buFont typeface="Arial"/>
              <a:buNone/>
            </a:pPr>
            <a:r>
              <a:rPr b="1" i="0" lang="en-US" sz="1620" u="none" cap="none" strike="noStrike">
                <a:solidFill>
                  <a:srgbClr val="F5F7FA"/>
                </a:solidFill>
                <a:latin typeface="Arial"/>
                <a:ea typeface="Arial"/>
                <a:cs typeface="Arial"/>
                <a:sym typeface="Arial"/>
              </a:rPr>
              <a:t>Machine learning can provide useful forward looking information on diesel prices, but robust prediction requires models that can adapt to changing market conditions.</a:t>
            </a:r>
            <a:endParaRPr b="0" i="0" sz="1600" u="none" cap="none" strike="noStrike">
              <a:solidFill>
                <a:srgbClr val="000000"/>
              </a:solidFill>
              <a:latin typeface="Arial"/>
              <a:ea typeface="Arial"/>
              <a:cs typeface="Arial"/>
              <a:sym typeface="Arial"/>
            </a:endParaRPr>
          </a:p>
        </p:txBody>
      </p:sp>
      <p:sp>
        <p:nvSpPr>
          <p:cNvPr id="266" name="Google Shape;266;p22"/>
          <p:cNvSpPr/>
          <p:nvPr/>
        </p:nvSpPr>
        <p:spPr>
          <a:xfrm>
            <a:off x="4480560" y="5532120"/>
            <a:ext cx="3200400" cy="22800"/>
          </a:xfrm>
          <a:prstGeom prst="rect">
            <a:avLst/>
          </a:prstGeom>
          <a:solidFill>
            <a:srgbClr val="E89E3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B2B"/>
        </a:solidFill>
      </p:bgPr>
    </p:bg>
    <p:spTree>
      <p:nvGrpSpPr>
        <p:cNvPr id="270" name="Shape 270"/>
        <p:cNvGrpSpPr/>
        <p:nvPr/>
      </p:nvGrpSpPr>
      <p:grpSpPr>
        <a:xfrm>
          <a:off x="0" y="0"/>
          <a:ext cx="0" cy="0"/>
          <a:chOff x="0" y="0"/>
          <a:chExt cx="0" cy="0"/>
        </a:xfrm>
      </p:grpSpPr>
      <p:sp>
        <p:nvSpPr>
          <p:cNvPr id="271" name="Google Shape;271;p23"/>
          <p:cNvSpPr txBox="1"/>
          <p:nvPr/>
        </p:nvSpPr>
        <p:spPr>
          <a:xfrm>
            <a:off x="530352" y="310896"/>
            <a:ext cx="10972800" cy="477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F5F7FA"/>
                </a:solidFill>
                <a:latin typeface="Arial"/>
                <a:ea typeface="Arial"/>
                <a:cs typeface="Arial"/>
                <a:sym typeface="Arial"/>
              </a:rPr>
              <a:t>9. Challenges, Lessons Learned &amp; Future Work</a:t>
            </a:r>
            <a:endParaRPr b="0" i="0" sz="1900" u="none" cap="none" strike="noStrike">
              <a:solidFill>
                <a:srgbClr val="000000"/>
              </a:solidFill>
              <a:latin typeface="Arial"/>
              <a:ea typeface="Arial"/>
              <a:cs typeface="Arial"/>
              <a:sym typeface="Arial"/>
            </a:endParaRPr>
          </a:p>
        </p:txBody>
      </p:sp>
      <p:sp>
        <p:nvSpPr>
          <p:cNvPr id="272" name="Google Shape;272;p23"/>
          <p:cNvSpPr txBox="1"/>
          <p:nvPr/>
        </p:nvSpPr>
        <p:spPr>
          <a:xfrm>
            <a:off x="548640" y="768096"/>
            <a:ext cx="10698600" cy="300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A9B6C4"/>
                </a:solidFill>
                <a:latin typeface="Arial"/>
                <a:ea typeface="Arial"/>
                <a:cs typeface="Arial"/>
                <a:sym typeface="Arial"/>
              </a:rPr>
              <a:t>What the project taught us beyond the final score.</a:t>
            </a:r>
            <a:endParaRPr b="0" i="0" sz="1800" u="none" cap="none" strike="noStrike">
              <a:solidFill>
                <a:srgbClr val="000000"/>
              </a:solidFill>
              <a:latin typeface="Arial"/>
              <a:ea typeface="Arial"/>
              <a:cs typeface="Arial"/>
              <a:sym typeface="Arial"/>
            </a:endParaRPr>
          </a:p>
        </p:txBody>
      </p:sp>
      <p:sp>
        <p:nvSpPr>
          <p:cNvPr id="273" name="Google Shape;273;p23"/>
          <p:cNvSpPr txBox="1"/>
          <p:nvPr/>
        </p:nvSpPr>
        <p:spPr>
          <a:xfrm>
            <a:off x="658368" y="1280160"/>
            <a:ext cx="4480500" cy="300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E89E34"/>
                </a:solidFill>
                <a:latin typeface="Arial"/>
                <a:ea typeface="Arial"/>
                <a:cs typeface="Arial"/>
                <a:sym typeface="Arial"/>
              </a:rPr>
              <a:t>CHALLENGES AND LESSONS LEARNED</a:t>
            </a:r>
            <a:endParaRPr b="0" i="0" sz="1800" u="none" cap="none" strike="noStrike">
              <a:solidFill>
                <a:srgbClr val="000000"/>
              </a:solidFill>
              <a:latin typeface="Arial"/>
              <a:ea typeface="Arial"/>
              <a:cs typeface="Arial"/>
              <a:sym typeface="Arial"/>
            </a:endParaRPr>
          </a:p>
        </p:txBody>
      </p:sp>
      <p:sp>
        <p:nvSpPr>
          <p:cNvPr id="274" name="Google Shape;274;p23"/>
          <p:cNvSpPr txBox="1"/>
          <p:nvPr/>
        </p:nvSpPr>
        <p:spPr>
          <a:xfrm>
            <a:off x="658368" y="1664208"/>
            <a:ext cx="4434900" cy="3618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50"/>
              <a:buFont typeface="Arial"/>
              <a:buNone/>
            </a:pPr>
            <a:r>
              <a:rPr b="1" i="0" lang="en-US" sz="1750" u="none" cap="none" strike="noStrike">
                <a:solidFill>
                  <a:srgbClr val="F5F7FA"/>
                </a:solidFill>
                <a:latin typeface="Arial"/>
                <a:ea typeface="Arial"/>
                <a:cs typeface="Arial"/>
                <a:sym typeface="Arial"/>
              </a:rPr>
              <a:t>Large scale data</a:t>
            </a:r>
            <a:endParaRPr b="0" i="0" sz="1800" u="none" cap="none" strike="noStrike">
              <a:solidFill>
                <a:srgbClr val="000000"/>
              </a:solidFill>
              <a:latin typeface="Arial"/>
              <a:ea typeface="Arial"/>
              <a:cs typeface="Arial"/>
              <a:sym typeface="Arial"/>
            </a:endParaRPr>
          </a:p>
        </p:txBody>
      </p:sp>
      <p:sp>
        <p:nvSpPr>
          <p:cNvPr id="275" name="Google Shape;275;p23"/>
          <p:cNvSpPr txBox="1"/>
          <p:nvPr/>
        </p:nvSpPr>
        <p:spPr>
          <a:xfrm>
            <a:off x="658368" y="1975104"/>
            <a:ext cx="4434900" cy="5418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60"/>
              <a:buFont typeface="Arial"/>
              <a:buNone/>
            </a:pPr>
            <a:r>
              <a:rPr b="0" i="0" lang="en-US" sz="1460" u="none" cap="none" strike="noStrike">
                <a:solidFill>
                  <a:srgbClr val="A9B6C4"/>
                </a:solidFill>
                <a:latin typeface="Arial"/>
                <a:ea typeface="Arial"/>
                <a:cs typeface="Arial"/>
                <a:sym typeface="Arial"/>
              </a:rPr>
              <a:t>Around 1.5M diesel observations made training and tuning computationally demanding.</a:t>
            </a:r>
            <a:endParaRPr b="0" i="0" sz="1800" u="none" cap="none" strike="noStrike">
              <a:solidFill>
                <a:srgbClr val="000000"/>
              </a:solidFill>
              <a:latin typeface="Arial"/>
              <a:ea typeface="Arial"/>
              <a:cs typeface="Arial"/>
              <a:sym typeface="Arial"/>
            </a:endParaRPr>
          </a:p>
        </p:txBody>
      </p:sp>
      <p:sp>
        <p:nvSpPr>
          <p:cNvPr id="276" name="Google Shape;276;p23"/>
          <p:cNvSpPr txBox="1"/>
          <p:nvPr/>
        </p:nvSpPr>
        <p:spPr>
          <a:xfrm>
            <a:off x="658368" y="2743200"/>
            <a:ext cx="4434900" cy="3618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50"/>
              <a:buFont typeface="Arial"/>
              <a:buNone/>
            </a:pPr>
            <a:r>
              <a:rPr b="1" i="0" lang="en-US" sz="1750" u="none" cap="none" strike="noStrike">
                <a:solidFill>
                  <a:srgbClr val="F5F7FA"/>
                </a:solidFill>
                <a:latin typeface="Arial"/>
                <a:ea typeface="Arial"/>
                <a:cs typeface="Arial"/>
                <a:sym typeface="Arial"/>
              </a:rPr>
              <a:t>Temporal leakage</a:t>
            </a:r>
            <a:endParaRPr b="0" i="0" sz="1800" u="none" cap="none" strike="noStrike">
              <a:solidFill>
                <a:srgbClr val="000000"/>
              </a:solidFill>
              <a:latin typeface="Arial"/>
              <a:ea typeface="Arial"/>
              <a:cs typeface="Arial"/>
              <a:sym typeface="Arial"/>
            </a:endParaRPr>
          </a:p>
        </p:txBody>
      </p:sp>
      <p:sp>
        <p:nvSpPr>
          <p:cNvPr id="277" name="Google Shape;277;p23"/>
          <p:cNvSpPr txBox="1"/>
          <p:nvPr/>
        </p:nvSpPr>
        <p:spPr>
          <a:xfrm>
            <a:off x="658368" y="3054096"/>
            <a:ext cx="4434900" cy="5418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60"/>
              <a:buFont typeface="Arial"/>
              <a:buNone/>
            </a:pPr>
            <a:r>
              <a:rPr b="0" i="0" lang="en-US" sz="1460" u="none" cap="none" strike="noStrike">
                <a:solidFill>
                  <a:srgbClr val="A9B6C4"/>
                </a:solidFill>
                <a:latin typeface="Arial"/>
                <a:ea typeface="Arial"/>
                <a:cs typeface="Arial"/>
                <a:sym typeface="Arial"/>
              </a:rPr>
              <a:t>Validation and external features had to respect what would actually be known at prediction time.</a:t>
            </a:r>
            <a:endParaRPr b="0" i="0" sz="1800" u="none" cap="none" strike="noStrike">
              <a:solidFill>
                <a:srgbClr val="000000"/>
              </a:solidFill>
              <a:latin typeface="Arial"/>
              <a:ea typeface="Arial"/>
              <a:cs typeface="Arial"/>
              <a:sym typeface="Arial"/>
            </a:endParaRPr>
          </a:p>
        </p:txBody>
      </p:sp>
      <p:sp>
        <p:nvSpPr>
          <p:cNvPr id="278" name="Google Shape;278;p23"/>
          <p:cNvSpPr txBox="1"/>
          <p:nvPr/>
        </p:nvSpPr>
        <p:spPr>
          <a:xfrm>
            <a:off x="658368" y="3822191"/>
            <a:ext cx="4434900" cy="3618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50"/>
              <a:buFont typeface="Arial"/>
              <a:buNone/>
            </a:pPr>
            <a:r>
              <a:rPr b="1" i="0" lang="en-US" sz="1750" u="none" cap="none" strike="noStrike">
                <a:solidFill>
                  <a:srgbClr val="F5F7FA"/>
                </a:solidFill>
                <a:latin typeface="Arial"/>
                <a:ea typeface="Arial"/>
                <a:cs typeface="Arial"/>
                <a:sym typeface="Arial"/>
              </a:rPr>
              <a:t>Validation is not the future</a:t>
            </a:r>
            <a:endParaRPr b="0" i="0" sz="1800" u="none" cap="none" strike="noStrike">
              <a:solidFill>
                <a:srgbClr val="000000"/>
              </a:solidFill>
              <a:latin typeface="Arial"/>
              <a:ea typeface="Arial"/>
              <a:cs typeface="Arial"/>
              <a:sym typeface="Arial"/>
            </a:endParaRPr>
          </a:p>
        </p:txBody>
      </p:sp>
      <p:sp>
        <p:nvSpPr>
          <p:cNvPr id="279" name="Google Shape;279;p23"/>
          <p:cNvSpPr txBox="1"/>
          <p:nvPr/>
        </p:nvSpPr>
        <p:spPr>
          <a:xfrm>
            <a:off x="658368" y="4133087"/>
            <a:ext cx="4434900" cy="5418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60"/>
              <a:buFont typeface="Arial"/>
              <a:buNone/>
            </a:pPr>
            <a:r>
              <a:rPr b="0" i="0" lang="en-US" sz="1460" u="none" cap="none" strike="noStrike">
                <a:solidFill>
                  <a:srgbClr val="A9B6C4"/>
                </a:solidFill>
                <a:latin typeface="Arial"/>
                <a:ea typeface="Arial"/>
                <a:cs typeface="Arial"/>
                <a:sym typeface="Arial"/>
              </a:rPr>
              <a:t>Strong October performance did not fully translate to November and December.</a:t>
            </a:r>
            <a:endParaRPr b="0" i="0" sz="1800" u="none" cap="none" strike="noStrike">
              <a:solidFill>
                <a:srgbClr val="000000"/>
              </a:solidFill>
              <a:latin typeface="Arial"/>
              <a:ea typeface="Arial"/>
              <a:cs typeface="Arial"/>
              <a:sym typeface="Arial"/>
            </a:endParaRPr>
          </a:p>
        </p:txBody>
      </p:sp>
      <p:sp>
        <p:nvSpPr>
          <p:cNvPr id="280" name="Google Shape;280;p23"/>
          <p:cNvSpPr/>
          <p:nvPr/>
        </p:nvSpPr>
        <p:spPr>
          <a:xfrm>
            <a:off x="5669280" y="1325880"/>
            <a:ext cx="27300" cy="4251900"/>
          </a:xfrm>
          <a:prstGeom prst="rect">
            <a:avLst/>
          </a:prstGeom>
          <a:solidFill>
            <a:srgbClr val="6D9EE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1" name="Google Shape;281;p23"/>
          <p:cNvSpPr txBox="1"/>
          <p:nvPr/>
        </p:nvSpPr>
        <p:spPr>
          <a:xfrm>
            <a:off x="6108192" y="1280160"/>
            <a:ext cx="4389000" cy="300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E89E34"/>
                </a:solidFill>
                <a:latin typeface="Arial"/>
                <a:ea typeface="Arial"/>
                <a:cs typeface="Arial"/>
                <a:sym typeface="Arial"/>
              </a:rPr>
              <a:t>FUTURE WORK</a:t>
            </a:r>
            <a:endParaRPr b="0" i="0" sz="1800" u="none" cap="none" strike="noStrike">
              <a:solidFill>
                <a:srgbClr val="000000"/>
              </a:solidFill>
              <a:latin typeface="Arial"/>
              <a:ea typeface="Arial"/>
              <a:cs typeface="Arial"/>
              <a:sym typeface="Arial"/>
            </a:endParaRPr>
          </a:p>
        </p:txBody>
      </p:sp>
      <p:sp>
        <p:nvSpPr>
          <p:cNvPr id="282" name="Google Shape;282;p23"/>
          <p:cNvSpPr txBox="1"/>
          <p:nvPr/>
        </p:nvSpPr>
        <p:spPr>
          <a:xfrm>
            <a:off x="6108192" y="1664208"/>
            <a:ext cx="4297800" cy="295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20"/>
              <a:buFont typeface="Arial"/>
              <a:buNone/>
            </a:pPr>
            <a:r>
              <a:rPr b="1" i="0" lang="en-US" sz="1320" u="none" cap="none" strike="noStrike">
                <a:solidFill>
                  <a:srgbClr val="F5F7FA"/>
                </a:solidFill>
                <a:latin typeface="Arial"/>
                <a:ea typeface="Arial"/>
                <a:cs typeface="Arial"/>
                <a:sym typeface="Arial"/>
              </a:rPr>
              <a:t>More historical data</a:t>
            </a:r>
            <a:endParaRPr b="0" i="0" sz="1400" u="none" cap="none" strike="noStrike">
              <a:solidFill>
                <a:srgbClr val="000000"/>
              </a:solidFill>
              <a:latin typeface="Arial"/>
              <a:ea typeface="Arial"/>
              <a:cs typeface="Arial"/>
              <a:sym typeface="Arial"/>
            </a:endParaRPr>
          </a:p>
        </p:txBody>
      </p:sp>
      <p:sp>
        <p:nvSpPr>
          <p:cNvPr id="283" name="Google Shape;283;p23"/>
          <p:cNvSpPr txBox="1"/>
          <p:nvPr/>
        </p:nvSpPr>
        <p:spPr>
          <a:xfrm>
            <a:off x="6108192" y="1947672"/>
            <a:ext cx="4297800" cy="3156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50"/>
              <a:buFont typeface="Arial"/>
              <a:buNone/>
            </a:pPr>
            <a:r>
              <a:rPr b="0" i="0" lang="en-US" sz="1450" u="none" cap="none" strike="noStrike">
                <a:solidFill>
                  <a:srgbClr val="A9B6C4"/>
                </a:solidFill>
                <a:latin typeface="Arial"/>
                <a:ea typeface="Arial"/>
                <a:cs typeface="Arial"/>
                <a:sym typeface="Arial"/>
              </a:rPr>
              <a:t>Extend the analysis beyond one year.</a:t>
            </a:r>
            <a:endParaRPr b="0" i="0" sz="1800" u="none" cap="none" strike="noStrike">
              <a:solidFill>
                <a:srgbClr val="000000"/>
              </a:solidFill>
              <a:latin typeface="Arial"/>
              <a:ea typeface="Arial"/>
              <a:cs typeface="Arial"/>
              <a:sym typeface="Arial"/>
            </a:endParaRPr>
          </a:p>
        </p:txBody>
      </p:sp>
      <p:sp>
        <p:nvSpPr>
          <p:cNvPr id="284" name="Google Shape;284;p23"/>
          <p:cNvSpPr txBox="1"/>
          <p:nvPr/>
        </p:nvSpPr>
        <p:spPr>
          <a:xfrm>
            <a:off x="6108192" y="2578608"/>
            <a:ext cx="4297800" cy="357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20"/>
              <a:buFont typeface="Arial"/>
              <a:buNone/>
            </a:pPr>
            <a:r>
              <a:rPr b="1" i="0" lang="en-US" sz="1720" u="none" cap="none" strike="noStrike">
                <a:solidFill>
                  <a:srgbClr val="F5F7FA"/>
                </a:solidFill>
                <a:latin typeface="Arial"/>
                <a:ea typeface="Arial"/>
                <a:cs typeface="Arial"/>
                <a:sym typeface="Arial"/>
              </a:rPr>
              <a:t>Station price history</a:t>
            </a:r>
            <a:endParaRPr b="0" i="0" sz="1800" u="none" cap="none" strike="noStrike">
              <a:solidFill>
                <a:srgbClr val="000000"/>
              </a:solidFill>
              <a:latin typeface="Arial"/>
              <a:ea typeface="Arial"/>
              <a:cs typeface="Arial"/>
              <a:sym typeface="Arial"/>
            </a:endParaRPr>
          </a:p>
        </p:txBody>
      </p:sp>
      <p:sp>
        <p:nvSpPr>
          <p:cNvPr id="285" name="Google Shape;285;p23"/>
          <p:cNvSpPr txBox="1"/>
          <p:nvPr/>
        </p:nvSpPr>
        <p:spPr>
          <a:xfrm>
            <a:off x="6108192" y="2862072"/>
            <a:ext cx="4297800" cy="3156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50"/>
              <a:buFont typeface="Arial"/>
              <a:buNone/>
            </a:pPr>
            <a:r>
              <a:rPr b="0" i="0" lang="en-US" sz="1450" u="none" cap="none" strike="noStrike">
                <a:solidFill>
                  <a:srgbClr val="A9B6C4"/>
                </a:solidFill>
                <a:latin typeface="Arial"/>
                <a:ea typeface="Arial"/>
                <a:cs typeface="Arial"/>
                <a:sym typeface="Arial"/>
              </a:rPr>
              <a:t>Explore station level lag and rolling price features.</a:t>
            </a:r>
            <a:endParaRPr b="0" i="0" sz="1800" u="none" cap="none" strike="noStrike">
              <a:solidFill>
                <a:srgbClr val="000000"/>
              </a:solidFill>
              <a:latin typeface="Arial"/>
              <a:ea typeface="Arial"/>
              <a:cs typeface="Arial"/>
              <a:sym typeface="Arial"/>
            </a:endParaRPr>
          </a:p>
        </p:txBody>
      </p:sp>
      <p:sp>
        <p:nvSpPr>
          <p:cNvPr id="286" name="Google Shape;286;p23"/>
          <p:cNvSpPr txBox="1"/>
          <p:nvPr/>
        </p:nvSpPr>
        <p:spPr>
          <a:xfrm>
            <a:off x="6108192" y="3493008"/>
            <a:ext cx="4297800" cy="357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20"/>
              <a:buFont typeface="Arial"/>
              <a:buNone/>
            </a:pPr>
            <a:r>
              <a:rPr b="1" i="0" lang="en-US" sz="1720" u="none" cap="none" strike="noStrike">
                <a:solidFill>
                  <a:srgbClr val="F5F7FA"/>
                </a:solidFill>
                <a:latin typeface="Arial"/>
                <a:ea typeface="Arial"/>
                <a:cs typeface="Arial"/>
                <a:sym typeface="Arial"/>
              </a:rPr>
              <a:t>Stronger temporal validation</a:t>
            </a:r>
            <a:endParaRPr b="0" i="0" sz="1800" u="none" cap="none" strike="noStrike">
              <a:solidFill>
                <a:srgbClr val="000000"/>
              </a:solidFill>
              <a:latin typeface="Arial"/>
              <a:ea typeface="Arial"/>
              <a:cs typeface="Arial"/>
              <a:sym typeface="Arial"/>
            </a:endParaRPr>
          </a:p>
        </p:txBody>
      </p:sp>
      <p:sp>
        <p:nvSpPr>
          <p:cNvPr id="287" name="Google Shape;287;p23"/>
          <p:cNvSpPr txBox="1"/>
          <p:nvPr/>
        </p:nvSpPr>
        <p:spPr>
          <a:xfrm>
            <a:off x="6108192" y="3776472"/>
            <a:ext cx="4297800" cy="3156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50"/>
              <a:buFont typeface="Arial"/>
              <a:buNone/>
            </a:pPr>
            <a:r>
              <a:rPr b="0" i="0" lang="en-US" sz="1450" u="none" cap="none" strike="noStrike">
                <a:solidFill>
                  <a:srgbClr val="A9B6C4"/>
                </a:solidFill>
                <a:latin typeface="Arial"/>
                <a:ea typeface="Arial"/>
                <a:cs typeface="Arial"/>
                <a:sym typeface="Arial"/>
              </a:rPr>
              <a:t>Test across several successive future periods.</a:t>
            </a:r>
            <a:endParaRPr b="0" i="0" sz="1800" u="none" cap="none" strike="noStrike">
              <a:solidFill>
                <a:srgbClr val="000000"/>
              </a:solidFill>
              <a:latin typeface="Arial"/>
              <a:ea typeface="Arial"/>
              <a:cs typeface="Arial"/>
              <a:sym typeface="Arial"/>
            </a:endParaRPr>
          </a:p>
        </p:txBody>
      </p:sp>
      <p:sp>
        <p:nvSpPr>
          <p:cNvPr id="288" name="Google Shape;288;p23"/>
          <p:cNvSpPr txBox="1"/>
          <p:nvPr/>
        </p:nvSpPr>
        <p:spPr>
          <a:xfrm>
            <a:off x="6108192" y="4407408"/>
            <a:ext cx="4297800" cy="357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20"/>
              <a:buFont typeface="Arial"/>
              <a:buNone/>
            </a:pPr>
            <a:r>
              <a:rPr b="1" i="0" lang="en-US" sz="1720" u="none" cap="none" strike="noStrike">
                <a:solidFill>
                  <a:srgbClr val="F5F7FA"/>
                </a:solidFill>
                <a:latin typeface="Arial"/>
                <a:ea typeface="Arial"/>
                <a:cs typeface="Arial"/>
                <a:sym typeface="Arial"/>
              </a:rPr>
              <a:t>Richer market signals</a:t>
            </a:r>
            <a:endParaRPr b="0" i="0" sz="1800" u="none" cap="none" strike="noStrike">
              <a:solidFill>
                <a:srgbClr val="000000"/>
              </a:solidFill>
              <a:latin typeface="Arial"/>
              <a:ea typeface="Arial"/>
              <a:cs typeface="Arial"/>
              <a:sym typeface="Arial"/>
            </a:endParaRPr>
          </a:p>
        </p:txBody>
      </p:sp>
      <p:sp>
        <p:nvSpPr>
          <p:cNvPr id="289" name="Google Shape;289;p23"/>
          <p:cNvSpPr txBox="1"/>
          <p:nvPr/>
        </p:nvSpPr>
        <p:spPr>
          <a:xfrm>
            <a:off x="6108192" y="4690872"/>
            <a:ext cx="4297800" cy="3156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50"/>
              <a:buFont typeface="Arial"/>
              <a:buNone/>
            </a:pPr>
            <a:r>
              <a:rPr b="0" i="0" lang="en-US" sz="1450" u="none" cap="none" strike="noStrike">
                <a:solidFill>
                  <a:srgbClr val="A9B6C4"/>
                </a:solidFill>
                <a:latin typeface="Arial"/>
                <a:ea typeface="Arial"/>
                <a:cs typeface="Arial"/>
                <a:sym typeface="Arial"/>
              </a:rPr>
              <a:t>Explore additional external variables.</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B2B"/>
        </a:solidFill>
      </p:bgPr>
    </p:bg>
    <p:spTree>
      <p:nvGrpSpPr>
        <p:cNvPr id="293" name="Shape 293"/>
        <p:cNvGrpSpPr/>
        <p:nvPr/>
      </p:nvGrpSpPr>
      <p:grpSpPr>
        <a:xfrm>
          <a:off x="0" y="0"/>
          <a:ext cx="0" cy="0"/>
          <a:chOff x="0" y="0"/>
          <a:chExt cx="0" cy="0"/>
        </a:xfrm>
      </p:grpSpPr>
      <p:sp>
        <p:nvSpPr>
          <p:cNvPr id="294" name="Google Shape;294;p24"/>
          <p:cNvSpPr/>
          <p:nvPr/>
        </p:nvSpPr>
        <p:spPr>
          <a:xfrm>
            <a:off x="438912" y="530352"/>
            <a:ext cx="50400" cy="5440800"/>
          </a:xfrm>
          <a:prstGeom prst="rect">
            <a:avLst/>
          </a:prstGeom>
          <a:solidFill>
            <a:srgbClr val="6D9EE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5" name="Google Shape;295;p24"/>
          <p:cNvSpPr txBox="1"/>
          <p:nvPr/>
        </p:nvSpPr>
        <p:spPr>
          <a:xfrm>
            <a:off x="914400" y="1481328"/>
            <a:ext cx="4937700" cy="646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F5F7FA"/>
                </a:solidFill>
                <a:latin typeface="Arial"/>
                <a:ea typeface="Arial"/>
                <a:cs typeface="Arial"/>
                <a:sym typeface="Arial"/>
              </a:rPr>
              <a:t>THANK YOU</a:t>
            </a:r>
            <a:endParaRPr b="0" i="0" sz="1900" u="none" cap="none" strike="noStrike">
              <a:solidFill>
                <a:srgbClr val="000000"/>
              </a:solidFill>
              <a:latin typeface="Arial"/>
              <a:ea typeface="Arial"/>
              <a:cs typeface="Arial"/>
              <a:sym typeface="Arial"/>
            </a:endParaRPr>
          </a:p>
        </p:txBody>
      </p:sp>
      <p:sp>
        <p:nvSpPr>
          <p:cNvPr id="296" name="Google Shape;296;p24"/>
          <p:cNvSpPr txBox="1"/>
          <p:nvPr/>
        </p:nvSpPr>
        <p:spPr>
          <a:xfrm>
            <a:off x="914400" y="2267700"/>
            <a:ext cx="5334900" cy="708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A9B6C4"/>
                </a:solidFill>
                <a:latin typeface="Arial"/>
                <a:ea typeface="Arial"/>
                <a:cs typeface="Arial"/>
                <a:sym typeface="Arial"/>
              </a:rPr>
              <a:t>From observing diesel prices</a:t>
            </a:r>
            <a:br>
              <a:rPr b="0" i="0" lang="en-US" sz="2000" u="none" cap="none" strike="noStrike">
                <a:solidFill>
                  <a:srgbClr val="A9B6C4"/>
                </a:solidFill>
                <a:latin typeface="Arial"/>
                <a:ea typeface="Arial"/>
                <a:cs typeface="Arial"/>
                <a:sym typeface="Arial"/>
              </a:rPr>
            </a:br>
            <a:r>
              <a:rPr b="0" i="0" lang="en-US" sz="2000" u="none" cap="none" strike="noStrike">
                <a:solidFill>
                  <a:srgbClr val="A9B6C4"/>
                </a:solidFill>
                <a:latin typeface="Arial"/>
                <a:ea typeface="Arial"/>
                <a:cs typeface="Arial"/>
                <a:sym typeface="Arial"/>
              </a:rPr>
              <a:t>to understanding what helps anticipate them.</a:t>
            </a:r>
            <a:endParaRPr b="0" i="0" sz="1800" u="none" cap="none" strike="noStrike">
              <a:solidFill>
                <a:srgbClr val="000000"/>
              </a:solidFill>
              <a:latin typeface="Arial"/>
              <a:ea typeface="Arial"/>
              <a:cs typeface="Arial"/>
              <a:sym typeface="Arial"/>
            </a:endParaRPr>
          </a:p>
        </p:txBody>
      </p:sp>
      <p:sp>
        <p:nvSpPr>
          <p:cNvPr id="297" name="Google Shape;297;p24"/>
          <p:cNvSpPr/>
          <p:nvPr/>
        </p:nvSpPr>
        <p:spPr>
          <a:xfrm>
            <a:off x="914400" y="3310128"/>
            <a:ext cx="685800" cy="22800"/>
          </a:xfrm>
          <a:prstGeom prst="rect">
            <a:avLst/>
          </a:prstGeom>
          <a:solidFill>
            <a:srgbClr val="E89E3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8" name="Google Shape;298;p24"/>
          <p:cNvSpPr txBox="1"/>
          <p:nvPr/>
        </p:nvSpPr>
        <p:spPr>
          <a:xfrm>
            <a:off x="914400" y="3749039"/>
            <a:ext cx="3657600" cy="477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E89E34"/>
                </a:solidFill>
                <a:latin typeface="Arial"/>
                <a:ea typeface="Arial"/>
                <a:cs typeface="Arial"/>
                <a:sym typeface="Arial"/>
              </a:rPr>
              <a:t>Questions?</a:t>
            </a:r>
            <a:endParaRPr b="0" i="0" sz="1900" u="none" cap="none" strike="noStrike">
              <a:solidFill>
                <a:srgbClr val="000000"/>
              </a:solidFill>
              <a:latin typeface="Arial"/>
              <a:ea typeface="Arial"/>
              <a:cs typeface="Arial"/>
              <a:sym typeface="Arial"/>
            </a:endParaRPr>
          </a:p>
        </p:txBody>
      </p:sp>
      <p:sp>
        <p:nvSpPr>
          <p:cNvPr id="299" name="Google Shape;299;p24"/>
          <p:cNvSpPr txBox="1"/>
          <p:nvPr/>
        </p:nvSpPr>
        <p:spPr>
          <a:xfrm>
            <a:off x="914400" y="5010912"/>
            <a:ext cx="2743200" cy="3078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5F7FA"/>
                </a:solidFill>
                <a:latin typeface="Arial"/>
                <a:ea typeface="Arial"/>
                <a:cs typeface="Arial"/>
                <a:sym typeface="Arial"/>
              </a:rPr>
              <a:t>Tina &amp; Malika</a:t>
            </a:r>
            <a:endParaRPr b="0" i="0" sz="1700" u="none" cap="none" strike="noStrike">
              <a:solidFill>
                <a:srgbClr val="000000"/>
              </a:solidFill>
              <a:latin typeface="Arial"/>
              <a:ea typeface="Arial"/>
              <a:cs typeface="Arial"/>
              <a:sym typeface="Arial"/>
            </a:endParaRPr>
          </a:p>
        </p:txBody>
      </p:sp>
      <p:sp>
        <p:nvSpPr>
          <p:cNvPr id="300" name="Google Shape;300;p24"/>
          <p:cNvSpPr txBox="1"/>
          <p:nvPr/>
        </p:nvSpPr>
        <p:spPr>
          <a:xfrm>
            <a:off x="914400" y="5340096"/>
            <a:ext cx="3840600" cy="2694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A9B6C4"/>
                </a:solidFill>
                <a:latin typeface="Arial"/>
                <a:ea typeface="Arial"/>
                <a:cs typeface="Arial"/>
                <a:sym typeface="Arial"/>
              </a:rPr>
              <a:t>MACHINE LEARNING PROJECT • 2026</a:t>
            </a:r>
            <a:endParaRPr b="0" i="0" sz="1700" u="none" cap="none" strike="noStrike">
              <a:solidFill>
                <a:srgbClr val="000000"/>
              </a:solidFill>
              <a:latin typeface="Arial"/>
              <a:ea typeface="Arial"/>
              <a:cs typeface="Arial"/>
              <a:sym typeface="Arial"/>
            </a:endParaRPr>
          </a:p>
        </p:txBody>
      </p:sp>
      <p:pic>
        <p:nvPicPr>
          <p:cNvPr descr="image.jpg" id="301" name="Google Shape;301;p24"/>
          <p:cNvPicPr preferRelativeResize="0"/>
          <p:nvPr/>
        </p:nvPicPr>
        <p:blipFill rotWithShape="1">
          <a:blip r:embed="rId3">
            <a:alphaModFix/>
          </a:blip>
          <a:srcRect b="0" l="0" r="0" t="0"/>
          <a:stretch/>
        </p:blipFill>
        <p:spPr>
          <a:xfrm>
            <a:off x="6674400" y="530350"/>
            <a:ext cx="5517275" cy="38191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